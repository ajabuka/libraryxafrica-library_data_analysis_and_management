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1" r:id="rId6"/>
    <p:sldId id="262" r:id="rId7"/>
    <p:sldId id="263" r:id="rId8"/>
    <p:sldId id="265" r:id="rId9"/>
    <p:sldId id="266" r:id="rId10"/>
    <p:sldId id="260" r:id="rId11"/>
    <p:sldId id="267" r:id="rId12"/>
    <p:sldId id="264"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s>
</file>

<file path=ppt/diagrams/_rels/drawing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s>
</file>

<file path=ppt/diagrams/colors1.xml><?xml version="1.0" encoding="utf-8"?>
<dgm:colorsDef xmlns:dgm="http://schemas.openxmlformats.org/drawingml/2006/diagram" xmlns:a="http://schemas.openxmlformats.org/drawingml/2006/main" uniqueId="urn:microsoft.com/office/officeart/2005/8/colors/colorful2#4">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4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10">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F2D44BB-9B78-464F-AA44-BB6D58BF9A5C}" type="doc">
      <dgm:prSet loTypeId="urn:microsoft.com/office/officeart/2016/7/layout/LinearBlockProcessNumbered" loCatId="process" qsTypeId="urn:microsoft.com/office/officeart/2005/8/quickstyle/simple1#20" qsCatId="simple" csTypeId="urn:microsoft.com/office/officeart/2005/8/colors/colorful2#4" csCatId="colorful"/>
      <dgm:spPr/>
      <dgm:t>
        <a:bodyPr/>
        <a:lstStyle/>
        <a:p>
          <a:endParaRPr lang="en-US"/>
        </a:p>
      </dgm:t>
    </dgm:pt>
    <dgm:pt modelId="{C79B8B1E-A4ED-45D2-A23F-7BB2EFFF8004}">
      <dgm:prSet/>
      <dgm:spPr/>
      <dgm:t>
        <a:bodyPr/>
        <a:lstStyle/>
        <a:p>
          <a:r>
            <a:rPr lang="en-GB" dirty="0"/>
            <a:t>Data Model</a:t>
          </a:r>
          <a:endParaRPr lang="en-US" dirty="0"/>
        </a:p>
      </dgm:t>
    </dgm:pt>
    <dgm:pt modelId="{22F0A06C-A40B-4FA4-BF4E-17BEEB882040}" type="parTrans" cxnId="{A265661C-600B-40F9-96C2-8A67229D9DC0}">
      <dgm:prSet/>
      <dgm:spPr/>
      <dgm:t>
        <a:bodyPr/>
        <a:lstStyle/>
        <a:p>
          <a:endParaRPr lang="en-US"/>
        </a:p>
      </dgm:t>
    </dgm:pt>
    <dgm:pt modelId="{A7E77D11-9F4D-4715-BF0E-C09E75F982EF}" type="sibTrans" cxnId="{A265661C-600B-40F9-96C2-8A67229D9DC0}">
      <dgm:prSet phldrT="01" phldr="0"/>
      <dgm:spPr/>
      <dgm:t>
        <a:bodyPr/>
        <a:lstStyle/>
        <a:p>
          <a:r>
            <a:rPr lang="en-US" dirty="0"/>
            <a:t>01</a:t>
          </a:r>
        </a:p>
      </dgm:t>
    </dgm:pt>
    <dgm:pt modelId="{65DE61C7-AB17-49A2-8E8E-60950C49C9B8}">
      <dgm:prSet/>
      <dgm:spPr/>
      <dgm:t>
        <a:bodyPr/>
        <a:lstStyle/>
        <a:p>
          <a:r>
            <a:rPr lang="en-GB" dirty="0"/>
            <a:t>Normalisation</a:t>
          </a:r>
          <a:endParaRPr lang="en-US" dirty="0"/>
        </a:p>
      </dgm:t>
    </dgm:pt>
    <dgm:pt modelId="{B6A7213E-53AE-41D9-AF5E-2B08AAF892FA}" type="parTrans" cxnId="{25CFDE86-A68B-4B1D-80B6-6F26E205944A}">
      <dgm:prSet/>
      <dgm:spPr/>
      <dgm:t>
        <a:bodyPr/>
        <a:lstStyle/>
        <a:p>
          <a:endParaRPr lang="en-US"/>
        </a:p>
      </dgm:t>
    </dgm:pt>
    <dgm:pt modelId="{5FEEA6B1-FF74-4BA7-A446-14839B454AD3}" type="sibTrans" cxnId="{25CFDE86-A68B-4B1D-80B6-6F26E205944A}">
      <dgm:prSet phldrT="02" phldr="0"/>
      <dgm:spPr/>
      <dgm:t>
        <a:bodyPr/>
        <a:lstStyle/>
        <a:p>
          <a:r>
            <a:rPr lang="en-US" dirty="0"/>
            <a:t>02</a:t>
          </a:r>
        </a:p>
      </dgm:t>
    </dgm:pt>
    <dgm:pt modelId="{75834EAF-946E-432D-914A-E52BF800596E}">
      <dgm:prSet/>
      <dgm:spPr/>
      <dgm:t>
        <a:bodyPr/>
        <a:lstStyle/>
        <a:p>
          <a:r>
            <a:rPr lang="en-GB" dirty="0"/>
            <a:t>Table Relationships</a:t>
          </a:r>
          <a:endParaRPr lang="en-US" dirty="0"/>
        </a:p>
      </dgm:t>
    </dgm:pt>
    <dgm:pt modelId="{F6454EC1-2829-4ADD-8495-F637C96C64A8}" type="parTrans" cxnId="{B201EC7A-4B20-4E2C-969F-744FC29E8445}">
      <dgm:prSet/>
      <dgm:spPr/>
      <dgm:t>
        <a:bodyPr/>
        <a:lstStyle/>
        <a:p>
          <a:endParaRPr lang="en-US"/>
        </a:p>
      </dgm:t>
    </dgm:pt>
    <dgm:pt modelId="{141EF704-F00E-4780-8F83-1E99CF7697A4}" type="sibTrans" cxnId="{B201EC7A-4B20-4E2C-969F-744FC29E8445}">
      <dgm:prSet phldrT="03" phldr="0"/>
      <dgm:spPr/>
      <dgm:t>
        <a:bodyPr/>
        <a:lstStyle/>
        <a:p>
          <a:r>
            <a:rPr lang="en-US" dirty="0"/>
            <a:t>03</a:t>
          </a:r>
        </a:p>
      </dgm:t>
    </dgm:pt>
    <dgm:pt modelId="{6B17AAE7-0F7D-4438-95FA-DAF439994217}" type="pres">
      <dgm:prSet presAssocID="{5F2D44BB-9B78-464F-AA44-BB6D58BF9A5C}" presName="Name0" presStyleCnt="0">
        <dgm:presLayoutVars>
          <dgm:animLvl val="lvl"/>
          <dgm:resizeHandles val="exact"/>
        </dgm:presLayoutVars>
      </dgm:prSet>
      <dgm:spPr/>
    </dgm:pt>
    <dgm:pt modelId="{0809868F-7FD5-4F88-B6E7-143D0DD4719C}" type="pres">
      <dgm:prSet presAssocID="{C79B8B1E-A4ED-45D2-A23F-7BB2EFFF8004}" presName="compositeNode" presStyleCnt="0">
        <dgm:presLayoutVars>
          <dgm:bulletEnabled val="1"/>
        </dgm:presLayoutVars>
      </dgm:prSet>
      <dgm:spPr/>
    </dgm:pt>
    <dgm:pt modelId="{23F5A190-6017-4346-9AA2-9388E080F5E9}" type="pres">
      <dgm:prSet presAssocID="{C79B8B1E-A4ED-45D2-A23F-7BB2EFFF8004}" presName="bgRect" presStyleLbl="alignNode1" presStyleIdx="0" presStyleCnt="3"/>
      <dgm:spPr/>
    </dgm:pt>
    <dgm:pt modelId="{05C2354C-212D-40C5-BC6F-2D6CD2EC120F}" type="pres">
      <dgm:prSet presAssocID="{A7E77D11-9F4D-4715-BF0E-C09E75F982EF}" presName="sibTransNodeRect" presStyleLbl="alignNode1" presStyleIdx="0" presStyleCnt="3">
        <dgm:presLayoutVars>
          <dgm:chMax val="0"/>
          <dgm:bulletEnabled val="1"/>
        </dgm:presLayoutVars>
      </dgm:prSet>
      <dgm:spPr/>
    </dgm:pt>
    <dgm:pt modelId="{FE54ED78-42FA-4047-9712-3AEFE629C93B}" type="pres">
      <dgm:prSet presAssocID="{C79B8B1E-A4ED-45D2-A23F-7BB2EFFF8004}" presName="nodeRect" presStyleLbl="alignNode1" presStyleIdx="0" presStyleCnt="3">
        <dgm:presLayoutVars>
          <dgm:bulletEnabled val="1"/>
        </dgm:presLayoutVars>
      </dgm:prSet>
      <dgm:spPr/>
    </dgm:pt>
    <dgm:pt modelId="{F8F4F1EF-C903-466F-BC37-D13527154AD0}" type="pres">
      <dgm:prSet presAssocID="{A7E77D11-9F4D-4715-BF0E-C09E75F982EF}" presName="sibTrans" presStyleCnt="0"/>
      <dgm:spPr/>
    </dgm:pt>
    <dgm:pt modelId="{1C4E33DC-CF24-42FE-892D-6939D70CA3E3}" type="pres">
      <dgm:prSet presAssocID="{65DE61C7-AB17-49A2-8E8E-60950C49C9B8}" presName="compositeNode" presStyleCnt="0">
        <dgm:presLayoutVars>
          <dgm:bulletEnabled val="1"/>
        </dgm:presLayoutVars>
      </dgm:prSet>
      <dgm:spPr/>
    </dgm:pt>
    <dgm:pt modelId="{1C665BD9-C10B-44C7-B7DE-6493832AAEE5}" type="pres">
      <dgm:prSet presAssocID="{65DE61C7-AB17-49A2-8E8E-60950C49C9B8}" presName="bgRect" presStyleLbl="alignNode1" presStyleIdx="1" presStyleCnt="3"/>
      <dgm:spPr/>
    </dgm:pt>
    <dgm:pt modelId="{2D5DC0C2-6FAB-4777-8468-623ED9BEB278}" type="pres">
      <dgm:prSet presAssocID="{5FEEA6B1-FF74-4BA7-A446-14839B454AD3}" presName="sibTransNodeRect" presStyleLbl="alignNode1" presStyleIdx="1" presStyleCnt="3">
        <dgm:presLayoutVars>
          <dgm:chMax val="0"/>
          <dgm:bulletEnabled val="1"/>
        </dgm:presLayoutVars>
      </dgm:prSet>
      <dgm:spPr/>
    </dgm:pt>
    <dgm:pt modelId="{FAD690C2-6349-4C93-B365-D2FAFD0B4519}" type="pres">
      <dgm:prSet presAssocID="{65DE61C7-AB17-49A2-8E8E-60950C49C9B8}" presName="nodeRect" presStyleLbl="alignNode1" presStyleIdx="1" presStyleCnt="3">
        <dgm:presLayoutVars>
          <dgm:bulletEnabled val="1"/>
        </dgm:presLayoutVars>
      </dgm:prSet>
      <dgm:spPr/>
    </dgm:pt>
    <dgm:pt modelId="{904E246A-345F-45FD-9144-4745020B1842}" type="pres">
      <dgm:prSet presAssocID="{5FEEA6B1-FF74-4BA7-A446-14839B454AD3}" presName="sibTrans" presStyleCnt="0"/>
      <dgm:spPr/>
    </dgm:pt>
    <dgm:pt modelId="{E788799D-C4D1-4787-B2B7-3C73202FACA9}" type="pres">
      <dgm:prSet presAssocID="{75834EAF-946E-432D-914A-E52BF800596E}" presName="compositeNode" presStyleCnt="0">
        <dgm:presLayoutVars>
          <dgm:bulletEnabled val="1"/>
        </dgm:presLayoutVars>
      </dgm:prSet>
      <dgm:spPr/>
    </dgm:pt>
    <dgm:pt modelId="{14A2891E-33FD-4791-8F71-F60BE2BB425F}" type="pres">
      <dgm:prSet presAssocID="{75834EAF-946E-432D-914A-E52BF800596E}" presName="bgRect" presStyleLbl="alignNode1" presStyleIdx="2" presStyleCnt="3"/>
      <dgm:spPr/>
    </dgm:pt>
    <dgm:pt modelId="{D9F058AD-1783-4930-964E-589A3768F6EB}" type="pres">
      <dgm:prSet presAssocID="{141EF704-F00E-4780-8F83-1E99CF7697A4}" presName="sibTransNodeRect" presStyleLbl="alignNode1" presStyleIdx="2" presStyleCnt="3">
        <dgm:presLayoutVars>
          <dgm:chMax val="0"/>
          <dgm:bulletEnabled val="1"/>
        </dgm:presLayoutVars>
      </dgm:prSet>
      <dgm:spPr/>
    </dgm:pt>
    <dgm:pt modelId="{FE9FCE23-2FFE-4671-A8FF-57AA101BE83F}" type="pres">
      <dgm:prSet presAssocID="{75834EAF-946E-432D-914A-E52BF800596E}" presName="nodeRect" presStyleLbl="alignNode1" presStyleIdx="2" presStyleCnt="3">
        <dgm:presLayoutVars>
          <dgm:bulletEnabled val="1"/>
        </dgm:presLayoutVars>
      </dgm:prSet>
      <dgm:spPr/>
    </dgm:pt>
  </dgm:ptLst>
  <dgm:cxnLst>
    <dgm:cxn modelId="{6AF50200-B3F2-4DE9-84E1-54CC609CE14A}" type="presOf" srcId="{75834EAF-946E-432D-914A-E52BF800596E}" destId="{14A2891E-33FD-4791-8F71-F60BE2BB425F}" srcOrd="0" destOrd="0" presId="urn:microsoft.com/office/officeart/2016/7/layout/LinearBlockProcessNumbered"/>
    <dgm:cxn modelId="{6CBB650C-0164-4E90-B43A-61842275CC00}" type="presOf" srcId="{75834EAF-946E-432D-914A-E52BF800596E}" destId="{FE9FCE23-2FFE-4671-A8FF-57AA101BE83F}" srcOrd="1" destOrd="0" presId="urn:microsoft.com/office/officeart/2016/7/layout/LinearBlockProcessNumbered"/>
    <dgm:cxn modelId="{E3CD860F-7340-47FB-9519-3496F8834B6C}" type="presOf" srcId="{65DE61C7-AB17-49A2-8E8E-60950C49C9B8}" destId="{FAD690C2-6349-4C93-B365-D2FAFD0B4519}" srcOrd="1" destOrd="0" presId="urn:microsoft.com/office/officeart/2016/7/layout/LinearBlockProcessNumbered"/>
    <dgm:cxn modelId="{E525F118-2860-49A9-B6FE-FDFDE0289F63}" type="presOf" srcId="{5FEEA6B1-FF74-4BA7-A446-14839B454AD3}" destId="{2D5DC0C2-6FAB-4777-8468-623ED9BEB278}" srcOrd="0" destOrd="0" presId="urn:microsoft.com/office/officeart/2016/7/layout/LinearBlockProcessNumbered"/>
    <dgm:cxn modelId="{A265661C-600B-40F9-96C2-8A67229D9DC0}" srcId="{5F2D44BB-9B78-464F-AA44-BB6D58BF9A5C}" destId="{C79B8B1E-A4ED-45D2-A23F-7BB2EFFF8004}" srcOrd="0" destOrd="0" parTransId="{22F0A06C-A40B-4FA4-BF4E-17BEEB882040}" sibTransId="{A7E77D11-9F4D-4715-BF0E-C09E75F982EF}"/>
    <dgm:cxn modelId="{48D3162C-DD01-4CCE-921E-F021091076A7}" type="presOf" srcId="{C79B8B1E-A4ED-45D2-A23F-7BB2EFFF8004}" destId="{FE54ED78-42FA-4047-9712-3AEFE629C93B}" srcOrd="1" destOrd="0" presId="urn:microsoft.com/office/officeart/2016/7/layout/LinearBlockProcessNumbered"/>
    <dgm:cxn modelId="{A4662A76-93DA-4C1D-AED8-14BE1D68CB2C}" type="presOf" srcId="{65DE61C7-AB17-49A2-8E8E-60950C49C9B8}" destId="{1C665BD9-C10B-44C7-B7DE-6493832AAEE5}" srcOrd="0" destOrd="0" presId="urn:microsoft.com/office/officeart/2016/7/layout/LinearBlockProcessNumbered"/>
    <dgm:cxn modelId="{B201EC7A-4B20-4E2C-969F-744FC29E8445}" srcId="{5F2D44BB-9B78-464F-AA44-BB6D58BF9A5C}" destId="{75834EAF-946E-432D-914A-E52BF800596E}" srcOrd="2" destOrd="0" parTransId="{F6454EC1-2829-4ADD-8495-F637C96C64A8}" sibTransId="{141EF704-F00E-4780-8F83-1E99CF7697A4}"/>
    <dgm:cxn modelId="{25CFDE86-A68B-4B1D-80B6-6F26E205944A}" srcId="{5F2D44BB-9B78-464F-AA44-BB6D58BF9A5C}" destId="{65DE61C7-AB17-49A2-8E8E-60950C49C9B8}" srcOrd="1" destOrd="0" parTransId="{B6A7213E-53AE-41D9-AF5E-2B08AAF892FA}" sibTransId="{5FEEA6B1-FF74-4BA7-A446-14839B454AD3}"/>
    <dgm:cxn modelId="{D8C82F8F-2BD4-41BC-9010-FF1D31681F92}" type="presOf" srcId="{A7E77D11-9F4D-4715-BF0E-C09E75F982EF}" destId="{05C2354C-212D-40C5-BC6F-2D6CD2EC120F}" srcOrd="0" destOrd="0" presId="urn:microsoft.com/office/officeart/2016/7/layout/LinearBlockProcessNumbered"/>
    <dgm:cxn modelId="{C5831199-7358-4131-9DCE-D857060B9713}" type="presOf" srcId="{5F2D44BB-9B78-464F-AA44-BB6D58BF9A5C}" destId="{6B17AAE7-0F7D-4438-95FA-DAF439994217}" srcOrd="0" destOrd="0" presId="urn:microsoft.com/office/officeart/2016/7/layout/LinearBlockProcessNumbered"/>
    <dgm:cxn modelId="{F12DF39A-78D5-4F4A-8871-AC67AFCB9CDD}" type="presOf" srcId="{C79B8B1E-A4ED-45D2-A23F-7BB2EFFF8004}" destId="{23F5A190-6017-4346-9AA2-9388E080F5E9}" srcOrd="0" destOrd="0" presId="urn:microsoft.com/office/officeart/2016/7/layout/LinearBlockProcessNumbered"/>
    <dgm:cxn modelId="{5A147BA5-D31B-4609-82C6-F5F2F7558AC0}" type="presOf" srcId="{141EF704-F00E-4780-8F83-1E99CF7697A4}" destId="{D9F058AD-1783-4930-964E-589A3768F6EB}" srcOrd="0" destOrd="0" presId="urn:microsoft.com/office/officeart/2016/7/layout/LinearBlockProcessNumbered"/>
    <dgm:cxn modelId="{F6F4CA7F-AE98-448A-9801-EEC66A48677C}" type="presParOf" srcId="{6B17AAE7-0F7D-4438-95FA-DAF439994217}" destId="{0809868F-7FD5-4F88-B6E7-143D0DD4719C}" srcOrd="0" destOrd="0" presId="urn:microsoft.com/office/officeart/2016/7/layout/LinearBlockProcessNumbered"/>
    <dgm:cxn modelId="{D3952A72-E9E8-4617-9C27-9DF0A233761F}" type="presParOf" srcId="{0809868F-7FD5-4F88-B6E7-143D0DD4719C}" destId="{23F5A190-6017-4346-9AA2-9388E080F5E9}" srcOrd="0" destOrd="0" presId="urn:microsoft.com/office/officeart/2016/7/layout/LinearBlockProcessNumbered"/>
    <dgm:cxn modelId="{B075DBED-FB2A-41C0-9CEC-E516B4141D40}" type="presParOf" srcId="{0809868F-7FD5-4F88-B6E7-143D0DD4719C}" destId="{05C2354C-212D-40C5-BC6F-2D6CD2EC120F}" srcOrd="1" destOrd="0" presId="urn:microsoft.com/office/officeart/2016/7/layout/LinearBlockProcessNumbered"/>
    <dgm:cxn modelId="{A9B8C525-EE79-4513-87F2-E97DFCE91EC5}" type="presParOf" srcId="{0809868F-7FD5-4F88-B6E7-143D0DD4719C}" destId="{FE54ED78-42FA-4047-9712-3AEFE629C93B}" srcOrd="2" destOrd="0" presId="urn:microsoft.com/office/officeart/2016/7/layout/LinearBlockProcessNumbered"/>
    <dgm:cxn modelId="{E69FB687-0B60-49BB-B89B-3341E6E751BD}" type="presParOf" srcId="{6B17AAE7-0F7D-4438-95FA-DAF439994217}" destId="{F8F4F1EF-C903-466F-BC37-D13527154AD0}" srcOrd="1" destOrd="0" presId="urn:microsoft.com/office/officeart/2016/7/layout/LinearBlockProcessNumbered"/>
    <dgm:cxn modelId="{EF6021DA-7387-4700-A75B-ED8B1B3ACEC0}" type="presParOf" srcId="{6B17AAE7-0F7D-4438-95FA-DAF439994217}" destId="{1C4E33DC-CF24-42FE-892D-6939D70CA3E3}" srcOrd="2" destOrd="0" presId="urn:microsoft.com/office/officeart/2016/7/layout/LinearBlockProcessNumbered"/>
    <dgm:cxn modelId="{3DD1948F-B533-406B-BBCB-5E941EF046AC}" type="presParOf" srcId="{1C4E33DC-CF24-42FE-892D-6939D70CA3E3}" destId="{1C665BD9-C10B-44C7-B7DE-6493832AAEE5}" srcOrd="0" destOrd="0" presId="urn:microsoft.com/office/officeart/2016/7/layout/LinearBlockProcessNumbered"/>
    <dgm:cxn modelId="{7448F495-6B4C-4142-AA98-EC435D0790DA}" type="presParOf" srcId="{1C4E33DC-CF24-42FE-892D-6939D70CA3E3}" destId="{2D5DC0C2-6FAB-4777-8468-623ED9BEB278}" srcOrd="1" destOrd="0" presId="urn:microsoft.com/office/officeart/2016/7/layout/LinearBlockProcessNumbered"/>
    <dgm:cxn modelId="{D2AE59DC-8816-4F4D-9E4D-9FA205010A0E}" type="presParOf" srcId="{1C4E33DC-CF24-42FE-892D-6939D70CA3E3}" destId="{FAD690C2-6349-4C93-B365-D2FAFD0B4519}" srcOrd="2" destOrd="0" presId="urn:microsoft.com/office/officeart/2016/7/layout/LinearBlockProcessNumbered"/>
    <dgm:cxn modelId="{455510CC-91D4-49E8-930C-95F988668857}" type="presParOf" srcId="{6B17AAE7-0F7D-4438-95FA-DAF439994217}" destId="{904E246A-345F-45FD-9144-4745020B1842}" srcOrd="3" destOrd="0" presId="urn:microsoft.com/office/officeart/2016/7/layout/LinearBlockProcessNumbered"/>
    <dgm:cxn modelId="{8CDA94C4-15AD-41C3-8F81-0FC2BFE983C8}" type="presParOf" srcId="{6B17AAE7-0F7D-4438-95FA-DAF439994217}" destId="{E788799D-C4D1-4787-B2B7-3C73202FACA9}" srcOrd="4" destOrd="0" presId="urn:microsoft.com/office/officeart/2016/7/layout/LinearBlockProcessNumbered"/>
    <dgm:cxn modelId="{68480DB7-D8E1-46F2-B897-FF798B0B6F14}" type="presParOf" srcId="{E788799D-C4D1-4787-B2B7-3C73202FACA9}" destId="{14A2891E-33FD-4791-8F71-F60BE2BB425F}" srcOrd="0" destOrd="0" presId="urn:microsoft.com/office/officeart/2016/7/layout/LinearBlockProcessNumbered"/>
    <dgm:cxn modelId="{C20356A6-A5E9-4001-8953-5D0460E8F000}" type="presParOf" srcId="{E788799D-C4D1-4787-B2B7-3C73202FACA9}" destId="{D9F058AD-1783-4930-964E-589A3768F6EB}" srcOrd="1" destOrd="0" presId="urn:microsoft.com/office/officeart/2016/7/layout/LinearBlockProcessNumbered"/>
    <dgm:cxn modelId="{ABDE4622-D14F-4EBB-A7C1-7C67DF01BCD0}" type="presParOf" srcId="{E788799D-C4D1-4787-B2B7-3C73202FACA9}" destId="{FE9FCE23-2FFE-4671-A8FF-57AA101BE83F}"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4CAB04F-1503-4DC8-9E3A-4D7B09A077F9}" type="doc">
      <dgm:prSet loTypeId="urn:microsoft.com/office/officeart/2018/2/layout/IconVerticalSolidList" loCatId="icon" qsTypeId="urn:microsoft.com/office/officeart/2005/8/quickstyle/simple1#66" qsCatId="simple" csTypeId="urn:microsoft.com/office/officeart/2005/8/colors/accent1_2#41" csCatId="accent1" phldr="1"/>
      <dgm:spPr/>
      <dgm:t>
        <a:bodyPr/>
        <a:lstStyle/>
        <a:p>
          <a:endParaRPr lang="en-US"/>
        </a:p>
      </dgm:t>
    </dgm:pt>
    <dgm:pt modelId="{7AD4CE46-863F-4CE0-8951-153E65802558}">
      <dgm:prSet/>
      <dgm:spPr/>
      <dgm:t>
        <a:bodyPr/>
        <a:lstStyle/>
        <a:p>
          <a:pPr>
            <a:lnSpc>
              <a:spcPct val="100000"/>
            </a:lnSpc>
          </a:pPr>
          <a:r>
            <a:rPr lang="en-GB" b="1"/>
            <a:t>Entities (Tables):</a:t>
          </a:r>
          <a:r>
            <a:rPr lang="en-GB"/>
            <a:t> The distinct concepts or events you are tracking, such as Patrons, Library Items, or Circulation Transactions.</a:t>
          </a:r>
          <a:endParaRPr lang="en-US"/>
        </a:p>
      </dgm:t>
    </dgm:pt>
    <dgm:pt modelId="{4D3550D8-B165-4268-90AB-563E47292D93}" type="parTrans" cxnId="{D0490AF1-A6F8-4DFD-9CF4-AD0672A29EC5}">
      <dgm:prSet/>
      <dgm:spPr/>
      <dgm:t>
        <a:bodyPr/>
        <a:lstStyle/>
        <a:p>
          <a:endParaRPr lang="en-US"/>
        </a:p>
      </dgm:t>
    </dgm:pt>
    <dgm:pt modelId="{2AC8FFB4-76AE-409E-BA95-D566D82FD7C3}" type="sibTrans" cxnId="{D0490AF1-A6F8-4DFD-9CF4-AD0672A29EC5}">
      <dgm:prSet/>
      <dgm:spPr/>
      <dgm:t>
        <a:bodyPr/>
        <a:lstStyle/>
        <a:p>
          <a:endParaRPr lang="en-US"/>
        </a:p>
      </dgm:t>
    </dgm:pt>
    <dgm:pt modelId="{4E43BBD3-C9A0-414E-8D9B-A1FC7C317744}">
      <dgm:prSet/>
      <dgm:spPr/>
      <dgm:t>
        <a:bodyPr/>
        <a:lstStyle/>
        <a:p>
          <a:pPr>
            <a:lnSpc>
              <a:spcPct val="100000"/>
            </a:lnSpc>
          </a:pPr>
          <a:r>
            <a:rPr lang="en-GB" b="1"/>
            <a:t>Attributes (Columns):</a:t>
          </a:r>
          <a:r>
            <a:rPr lang="en-GB"/>
            <a:t> The specific characteristics describing those entities, such as Patron Type, Publication Year, or Checkout Date.</a:t>
          </a:r>
          <a:endParaRPr lang="en-US"/>
        </a:p>
      </dgm:t>
    </dgm:pt>
    <dgm:pt modelId="{593ACFD2-C5F0-42D7-9D8E-0DBCF4FCCD3F}" type="parTrans" cxnId="{8469EA99-E655-494A-87C0-C524107D70CA}">
      <dgm:prSet/>
      <dgm:spPr/>
      <dgm:t>
        <a:bodyPr/>
        <a:lstStyle/>
        <a:p>
          <a:endParaRPr lang="en-US"/>
        </a:p>
      </dgm:t>
    </dgm:pt>
    <dgm:pt modelId="{C8416682-BFDD-479D-8B35-A34D079A4D43}" type="sibTrans" cxnId="{8469EA99-E655-494A-87C0-C524107D70CA}">
      <dgm:prSet/>
      <dgm:spPr/>
      <dgm:t>
        <a:bodyPr/>
        <a:lstStyle/>
        <a:p>
          <a:endParaRPr lang="en-US"/>
        </a:p>
      </dgm:t>
    </dgm:pt>
    <dgm:pt modelId="{BC73544C-9E54-4277-8C1A-57D2CC52E435}">
      <dgm:prSet/>
      <dgm:spPr/>
      <dgm:t>
        <a:bodyPr/>
        <a:lstStyle/>
        <a:p>
          <a:pPr>
            <a:lnSpc>
              <a:spcPct val="100000"/>
            </a:lnSpc>
          </a:pPr>
          <a:r>
            <a:rPr lang="en-GB" b="1"/>
            <a:t>Relationships (Links):</a:t>
          </a:r>
          <a:r>
            <a:rPr lang="en-GB"/>
            <a:t> The defined connections between the tables. For example, a relationship connects the “Accession No" in a checkout log to the identical " Accession No " in the book inventory table.</a:t>
          </a:r>
          <a:endParaRPr lang="en-US"/>
        </a:p>
      </dgm:t>
    </dgm:pt>
    <dgm:pt modelId="{37A29883-F237-4C2C-8481-0C88D328A708}" type="parTrans" cxnId="{4143642C-7425-4FEF-967C-93A33790C55E}">
      <dgm:prSet/>
      <dgm:spPr/>
      <dgm:t>
        <a:bodyPr/>
        <a:lstStyle/>
        <a:p>
          <a:endParaRPr lang="en-US"/>
        </a:p>
      </dgm:t>
    </dgm:pt>
    <dgm:pt modelId="{D22805A5-BC2D-4214-A73E-3F1F569A2614}" type="sibTrans" cxnId="{4143642C-7425-4FEF-967C-93A33790C55E}">
      <dgm:prSet/>
      <dgm:spPr/>
      <dgm:t>
        <a:bodyPr/>
        <a:lstStyle/>
        <a:p>
          <a:endParaRPr lang="en-US"/>
        </a:p>
      </dgm:t>
    </dgm:pt>
    <dgm:pt modelId="{FBC4AA16-2CE3-4788-850E-54397326E9A5}" type="pres">
      <dgm:prSet presAssocID="{44CAB04F-1503-4DC8-9E3A-4D7B09A077F9}" presName="root" presStyleCnt="0">
        <dgm:presLayoutVars>
          <dgm:dir/>
          <dgm:resizeHandles val="exact"/>
        </dgm:presLayoutVars>
      </dgm:prSet>
      <dgm:spPr/>
    </dgm:pt>
    <dgm:pt modelId="{E7AF0536-7239-4661-91FE-4828B224F761}" type="pres">
      <dgm:prSet presAssocID="{7AD4CE46-863F-4CE0-8951-153E65802558}" presName="compNode" presStyleCnt="0"/>
      <dgm:spPr/>
    </dgm:pt>
    <dgm:pt modelId="{7FA6B21F-1D05-42A7-806A-D6AF28C786D9}" type="pres">
      <dgm:prSet presAssocID="{7AD4CE46-863F-4CE0-8951-153E65802558}" presName="bgRect" presStyleLbl="bgShp" presStyleIdx="0" presStyleCnt="3"/>
      <dgm:spPr/>
    </dgm:pt>
    <dgm:pt modelId="{896DC009-CA5A-4AAB-A1CF-3BF176E642B1}" type="pres">
      <dgm:prSet presAssocID="{7AD4CE46-863F-4CE0-8951-153E65802558}"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Research"/>
        </a:ext>
      </dgm:extLst>
    </dgm:pt>
    <dgm:pt modelId="{CD8E8ECA-F6CC-4189-A448-7D8996A50C49}" type="pres">
      <dgm:prSet presAssocID="{7AD4CE46-863F-4CE0-8951-153E65802558}" presName="spaceRect" presStyleCnt="0"/>
      <dgm:spPr/>
    </dgm:pt>
    <dgm:pt modelId="{FA1EC879-2E9C-4D27-8A8A-680C1155BBCC}" type="pres">
      <dgm:prSet presAssocID="{7AD4CE46-863F-4CE0-8951-153E65802558}" presName="parTx" presStyleLbl="revTx" presStyleIdx="0" presStyleCnt="3">
        <dgm:presLayoutVars>
          <dgm:chMax val="0"/>
          <dgm:chPref val="0"/>
        </dgm:presLayoutVars>
      </dgm:prSet>
      <dgm:spPr/>
    </dgm:pt>
    <dgm:pt modelId="{BE26E946-4ABF-4546-9DDA-6D890E80DBF6}" type="pres">
      <dgm:prSet presAssocID="{2AC8FFB4-76AE-409E-BA95-D566D82FD7C3}" presName="sibTrans" presStyleCnt="0"/>
      <dgm:spPr/>
    </dgm:pt>
    <dgm:pt modelId="{D2A8700E-C181-4AF0-B6AC-3458329DFB5F}" type="pres">
      <dgm:prSet presAssocID="{4E43BBD3-C9A0-414E-8D9B-A1FC7C317744}" presName="compNode" presStyleCnt="0"/>
      <dgm:spPr/>
    </dgm:pt>
    <dgm:pt modelId="{376127DF-0804-4487-A581-98F06ECAB6CE}" type="pres">
      <dgm:prSet presAssocID="{4E43BBD3-C9A0-414E-8D9B-A1FC7C317744}" presName="bgRect" presStyleLbl="bgShp" presStyleIdx="1" presStyleCnt="3"/>
      <dgm:spPr/>
    </dgm:pt>
    <dgm:pt modelId="{96D75FF8-334B-4D45-80E2-2EE02F109E0C}" type="pres">
      <dgm:prSet presAssocID="{4E43BBD3-C9A0-414E-8D9B-A1FC7C317744}"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aptain"/>
        </a:ext>
      </dgm:extLst>
    </dgm:pt>
    <dgm:pt modelId="{1EC3AABC-5AF6-463F-9640-721E6DBA3D63}" type="pres">
      <dgm:prSet presAssocID="{4E43BBD3-C9A0-414E-8D9B-A1FC7C317744}" presName="spaceRect" presStyleCnt="0"/>
      <dgm:spPr/>
    </dgm:pt>
    <dgm:pt modelId="{7F917969-BD92-4960-B16F-4DF7C10CAAA5}" type="pres">
      <dgm:prSet presAssocID="{4E43BBD3-C9A0-414E-8D9B-A1FC7C317744}" presName="parTx" presStyleLbl="revTx" presStyleIdx="1" presStyleCnt="3">
        <dgm:presLayoutVars>
          <dgm:chMax val="0"/>
          <dgm:chPref val="0"/>
        </dgm:presLayoutVars>
      </dgm:prSet>
      <dgm:spPr/>
    </dgm:pt>
    <dgm:pt modelId="{35E19F71-10B5-42DE-AAEC-6D4B51D05DBA}" type="pres">
      <dgm:prSet presAssocID="{C8416682-BFDD-479D-8B35-A34D079A4D43}" presName="sibTrans" presStyleCnt="0"/>
      <dgm:spPr/>
    </dgm:pt>
    <dgm:pt modelId="{0C4EC4F1-A67F-4BD6-A3C6-447DEC101D7E}" type="pres">
      <dgm:prSet presAssocID="{BC73544C-9E54-4277-8C1A-57D2CC52E435}" presName="compNode" presStyleCnt="0"/>
      <dgm:spPr/>
    </dgm:pt>
    <dgm:pt modelId="{FB03E384-CA04-43E1-9602-9B50E140CDBD}" type="pres">
      <dgm:prSet presAssocID="{BC73544C-9E54-4277-8C1A-57D2CC52E435}" presName="bgRect" presStyleLbl="bgShp" presStyleIdx="2" presStyleCnt="3"/>
      <dgm:spPr/>
    </dgm:pt>
    <dgm:pt modelId="{7D0DFD63-FB4A-4D0C-9035-C1B3A47401BC}" type="pres">
      <dgm:prSet presAssocID="{BC73544C-9E54-4277-8C1A-57D2CC52E435}"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Network"/>
        </a:ext>
      </dgm:extLst>
    </dgm:pt>
    <dgm:pt modelId="{D2BDFC3D-221D-41E0-9918-C215AB3F0FBC}" type="pres">
      <dgm:prSet presAssocID="{BC73544C-9E54-4277-8C1A-57D2CC52E435}" presName="spaceRect" presStyleCnt="0"/>
      <dgm:spPr/>
    </dgm:pt>
    <dgm:pt modelId="{76E63813-495F-467D-A83D-7B4A81D9DA5E}" type="pres">
      <dgm:prSet presAssocID="{BC73544C-9E54-4277-8C1A-57D2CC52E435}" presName="parTx" presStyleLbl="revTx" presStyleIdx="2" presStyleCnt="3">
        <dgm:presLayoutVars>
          <dgm:chMax val="0"/>
          <dgm:chPref val="0"/>
        </dgm:presLayoutVars>
      </dgm:prSet>
      <dgm:spPr/>
    </dgm:pt>
  </dgm:ptLst>
  <dgm:cxnLst>
    <dgm:cxn modelId="{4143642C-7425-4FEF-967C-93A33790C55E}" srcId="{44CAB04F-1503-4DC8-9E3A-4D7B09A077F9}" destId="{BC73544C-9E54-4277-8C1A-57D2CC52E435}" srcOrd="2" destOrd="0" parTransId="{37A29883-F237-4C2C-8481-0C88D328A708}" sibTransId="{D22805A5-BC2D-4214-A73E-3F1F569A2614}"/>
    <dgm:cxn modelId="{E90A042E-E317-4872-8780-D0CF4F9EC90A}" type="presOf" srcId="{7AD4CE46-863F-4CE0-8951-153E65802558}" destId="{FA1EC879-2E9C-4D27-8A8A-680C1155BBCC}" srcOrd="0" destOrd="0" presId="urn:microsoft.com/office/officeart/2018/2/layout/IconVerticalSolidList"/>
    <dgm:cxn modelId="{795D166D-A1CA-4A7A-AAA0-26C822BFB378}" type="presOf" srcId="{BC73544C-9E54-4277-8C1A-57D2CC52E435}" destId="{76E63813-495F-467D-A83D-7B4A81D9DA5E}" srcOrd="0" destOrd="0" presId="urn:microsoft.com/office/officeart/2018/2/layout/IconVerticalSolidList"/>
    <dgm:cxn modelId="{8469EA99-E655-494A-87C0-C524107D70CA}" srcId="{44CAB04F-1503-4DC8-9E3A-4D7B09A077F9}" destId="{4E43BBD3-C9A0-414E-8D9B-A1FC7C317744}" srcOrd="1" destOrd="0" parTransId="{593ACFD2-C5F0-42D7-9D8E-0DBCF4FCCD3F}" sibTransId="{C8416682-BFDD-479D-8B35-A34D079A4D43}"/>
    <dgm:cxn modelId="{6BAEBCD6-E1BB-4256-A28E-F25D33820BC1}" type="presOf" srcId="{4E43BBD3-C9A0-414E-8D9B-A1FC7C317744}" destId="{7F917969-BD92-4960-B16F-4DF7C10CAAA5}" srcOrd="0" destOrd="0" presId="urn:microsoft.com/office/officeart/2018/2/layout/IconVerticalSolidList"/>
    <dgm:cxn modelId="{D0490AF1-A6F8-4DFD-9CF4-AD0672A29EC5}" srcId="{44CAB04F-1503-4DC8-9E3A-4D7B09A077F9}" destId="{7AD4CE46-863F-4CE0-8951-153E65802558}" srcOrd="0" destOrd="0" parTransId="{4D3550D8-B165-4268-90AB-563E47292D93}" sibTransId="{2AC8FFB4-76AE-409E-BA95-D566D82FD7C3}"/>
    <dgm:cxn modelId="{EABDD5F2-AFD3-4EDB-B13A-C9DC642BE086}" type="presOf" srcId="{44CAB04F-1503-4DC8-9E3A-4D7B09A077F9}" destId="{FBC4AA16-2CE3-4788-850E-54397326E9A5}" srcOrd="0" destOrd="0" presId="urn:microsoft.com/office/officeart/2018/2/layout/IconVerticalSolidList"/>
    <dgm:cxn modelId="{45116D25-C078-4AF1-AF1E-1EE4B9F23038}" type="presParOf" srcId="{FBC4AA16-2CE3-4788-850E-54397326E9A5}" destId="{E7AF0536-7239-4661-91FE-4828B224F761}" srcOrd="0" destOrd="0" presId="urn:microsoft.com/office/officeart/2018/2/layout/IconVerticalSolidList"/>
    <dgm:cxn modelId="{9D76A0DA-0B8B-41B2-870A-9F9C30C61017}" type="presParOf" srcId="{E7AF0536-7239-4661-91FE-4828B224F761}" destId="{7FA6B21F-1D05-42A7-806A-D6AF28C786D9}" srcOrd="0" destOrd="0" presId="urn:microsoft.com/office/officeart/2018/2/layout/IconVerticalSolidList"/>
    <dgm:cxn modelId="{A6C4737D-5FB8-4514-B0B4-E7BB31E4D223}" type="presParOf" srcId="{E7AF0536-7239-4661-91FE-4828B224F761}" destId="{896DC009-CA5A-4AAB-A1CF-3BF176E642B1}" srcOrd="1" destOrd="0" presId="urn:microsoft.com/office/officeart/2018/2/layout/IconVerticalSolidList"/>
    <dgm:cxn modelId="{84DD2B98-7AC1-4CB9-8D43-08BCD50652C7}" type="presParOf" srcId="{E7AF0536-7239-4661-91FE-4828B224F761}" destId="{CD8E8ECA-F6CC-4189-A448-7D8996A50C49}" srcOrd="2" destOrd="0" presId="urn:microsoft.com/office/officeart/2018/2/layout/IconVerticalSolidList"/>
    <dgm:cxn modelId="{A83E3067-0C44-4780-B048-ED446BA803C2}" type="presParOf" srcId="{E7AF0536-7239-4661-91FE-4828B224F761}" destId="{FA1EC879-2E9C-4D27-8A8A-680C1155BBCC}" srcOrd="3" destOrd="0" presId="urn:microsoft.com/office/officeart/2018/2/layout/IconVerticalSolidList"/>
    <dgm:cxn modelId="{A589E4D5-B5C7-47E7-B3A5-40AA43FECE8E}" type="presParOf" srcId="{FBC4AA16-2CE3-4788-850E-54397326E9A5}" destId="{BE26E946-4ABF-4546-9DDA-6D890E80DBF6}" srcOrd="1" destOrd="0" presId="urn:microsoft.com/office/officeart/2018/2/layout/IconVerticalSolidList"/>
    <dgm:cxn modelId="{FF4BD4EB-87DF-4657-9E11-0E552C56E84D}" type="presParOf" srcId="{FBC4AA16-2CE3-4788-850E-54397326E9A5}" destId="{D2A8700E-C181-4AF0-B6AC-3458329DFB5F}" srcOrd="2" destOrd="0" presId="urn:microsoft.com/office/officeart/2018/2/layout/IconVerticalSolidList"/>
    <dgm:cxn modelId="{9415966A-20C6-4C0D-8662-5129BA8AEE53}" type="presParOf" srcId="{D2A8700E-C181-4AF0-B6AC-3458329DFB5F}" destId="{376127DF-0804-4487-A581-98F06ECAB6CE}" srcOrd="0" destOrd="0" presId="urn:microsoft.com/office/officeart/2018/2/layout/IconVerticalSolidList"/>
    <dgm:cxn modelId="{E470C7A4-8214-4FA0-8259-0A6D2B23E6F0}" type="presParOf" srcId="{D2A8700E-C181-4AF0-B6AC-3458329DFB5F}" destId="{96D75FF8-334B-4D45-80E2-2EE02F109E0C}" srcOrd="1" destOrd="0" presId="urn:microsoft.com/office/officeart/2018/2/layout/IconVerticalSolidList"/>
    <dgm:cxn modelId="{7F833C36-B4A2-48F5-9E32-2D1CA5595D30}" type="presParOf" srcId="{D2A8700E-C181-4AF0-B6AC-3458329DFB5F}" destId="{1EC3AABC-5AF6-463F-9640-721E6DBA3D63}" srcOrd="2" destOrd="0" presId="urn:microsoft.com/office/officeart/2018/2/layout/IconVerticalSolidList"/>
    <dgm:cxn modelId="{F3BB00CE-E94E-42FC-93E7-26BF19846692}" type="presParOf" srcId="{D2A8700E-C181-4AF0-B6AC-3458329DFB5F}" destId="{7F917969-BD92-4960-B16F-4DF7C10CAAA5}" srcOrd="3" destOrd="0" presId="urn:microsoft.com/office/officeart/2018/2/layout/IconVerticalSolidList"/>
    <dgm:cxn modelId="{22124457-F905-42D0-85C5-CD3A3EFD04D0}" type="presParOf" srcId="{FBC4AA16-2CE3-4788-850E-54397326E9A5}" destId="{35E19F71-10B5-42DE-AAEC-6D4B51D05DBA}" srcOrd="3" destOrd="0" presId="urn:microsoft.com/office/officeart/2018/2/layout/IconVerticalSolidList"/>
    <dgm:cxn modelId="{DE38524D-CC15-4CA8-90D2-24422925579D}" type="presParOf" srcId="{FBC4AA16-2CE3-4788-850E-54397326E9A5}" destId="{0C4EC4F1-A67F-4BD6-A3C6-447DEC101D7E}" srcOrd="4" destOrd="0" presId="urn:microsoft.com/office/officeart/2018/2/layout/IconVerticalSolidList"/>
    <dgm:cxn modelId="{65F41E54-C44B-4DDC-A250-6944D711F37C}" type="presParOf" srcId="{0C4EC4F1-A67F-4BD6-A3C6-447DEC101D7E}" destId="{FB03E384-CA04-43E1-9602-9B50E140CDBD}" srcOrd="0" destOrd="0" presId="urn:microsoft.com/office/officeart/2018/2/layout/IconVerticalSolidList"/>
    <dgm:cxn modelId="{E18575AF-4503-4DAF-8356-71E297AD94D1}" type="presParOf" srcId="{0C4EC4F1-A67F-4BD6-A3C6-447DEC101D7E}" destId="{7D0DFD63-FB4A-4D0C-9035-C1B3A47401BC}" srcOrd="1" destOrd="0" presId="urn:microsoft.com/office/officeart/2018/2/layout/IconVerticalSolidList"/>
    <dgm:cxn modelId="{A3AB83A8-A3E5-4D13-855D-6E2A12EBC148}" type="presParOf" srcId="{0C4EC4F1-A67F-4BD6-A3C6-447DEC101D7E}" destId="{D2BDFC3D-221D-41E0-9918-C215AB3F0FBC}" srcOrd="2" destOrd="0" presId="urn:microsoft.com/office/officeart/2018/2/layout/IconVerticalSolidList"/>
    <dgm:cxn modelId="{6CAF065C-979E-4B55-8DB2-027213D2F8F1}" type="presParOf" srcId="{0C4EC4F1-A67F-4BD6-A3C6-447DEC101D7E}" destId="{76E63813-495F-467D-A83D-7B4A81D9DA5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E1CBA6B-3BE4-4E57-A606-33DAF983AD52}" type="doc">
      <dgm:prSet loTypeId="urn:microsoft.com/office/officeart/2005/8/layout/vList2" loCatId="list" qsTypeId="urn:microsoft.com/office/officeart/2005/8/quickstyle/simple1#85" qsCatId="simple" csTypeId="urn:microsoft.com/office/officeart/2005/8/colors/colorful2#10" csCatId="colorful"/>
      <dgm:spPr/>
      <dgm:t>
        <a:bodyPr/>
        <a:lstStyle/>
        <a:p>
          <a:endParaRPr lang="en-US"/>
        </a:p>
      </dgm:t>
    </dgm:pt>
    <dgm:pt modelId="{550D14E0-B384-46A5-AA1B-5CC9A12A63B1}">
      <dgm:prSet/>
      <dgm:spPr/>
      <dgm:t>
        <a:bodyPr/>
        <a:lstStyle/>
        <a:p>
          <a:r>
            <a:rPr lang="en-GB" dirty="0"/>
            <a:t>“Clean” up the data</a:t>
          </a:r>
          <a:endParaRPr lang="en-US" dirty="0"/>
        </a:p>
      </dgm:t>
    </dgm:pt>
    <dgm:pt modelId="{32B5D53D-2D62-4B77-8B83-BAEF3D8B7F06}" type="parTrans" cxnId="{E0E0E9F2-2A8B-4CE5-804D-0AFA83F9ADE5}">
      <dgm:prSet/>
      <dgm:spPr/>
      <dgm:t>
        <a:bodyPr/>
        <a:lstStyle/>
        <a:p>
          <a:endParaRPr lang="en-US"/>
        </a:p>
      </dgm:t>
    </dgm:pt>
    <dgm:pt modelId="{4C5542A2-E38A-420C-902E-02AF40B47B60}" type="sibTrans" cxnId="{E0E0E9F2-2A8B-4CE5-804D-0AFA83F9ADE5}">
      <dgm:prSet/>
      <dgm:spPr/>
      <dgm:t>
        <a:bodyPr/>
        <a:lstStyle/>
        <a:p>
          <a:endParaRPr lang="en-US"/>
        </a:p>
      </dgm:t>
    </dgm:pt>
    <dgm:pt modelId="{D7FF0E7C-2932-4368-A11B-18DDA34FF56B}">
      <dgm:prSet/>
      <dgm:spPr/>
      <dgm:t>
        <a:bodyPr/>
        <a:lstStyle/>
        <a:p>
          <a:r>
            <a:rPr lang="en-GB"/>
            <a:t>Ensure a proper structure of the data</a:t>
          </a:r>
          <a:endParaRPr lang="en-US"/>
        </a:p>
      </dgm:t>
    </dgm:pt>
    <dgm:pt modelId="{D5465DAA-BEE3-42AE-B0B4-A35B9A197500}" type="parTrans" cxnId="{1CF2DE2E-EFB9-4DA7-BFF9-82F851CAC28C}">
      <dgm:prSet/>
      <dgm:spPr/>
      <dgm:t>
        <a:bodyPr/>
        <a:lstStyle/>
        <a:p>
          <a:endParaRPr lang="en-US"/>
        </a:p>
      </dgm:t>
    </dgm:pt>
    <dgm:pt modelId="{24E3EF2E-4666-4902-83DB-429806BC11EC}" type="sibTrans" cxnId="{1CF2DE2E-EFB9-4DA7-BFF9-82F851CAC28C}">
      <dgm:prSet/>
      <dgm:spPr/>
      <dgm:t>
        <a:bodyPr/>
        <a:lstStyle/>
        <a:p>
          <a:endParaRPr lang="en-US"/>
        </a:p>
      </dgm:t>
    </dgm:pt>
    <dgm:pt modelId="{04E9457A-49EC-429A-99DA-782BA8B4A8F0}">
      <dgm:prSet/>
      <dgm:spPr/>
      <dgm:t>
        <a:bodyPr/>
        <a:lstStyle/>
        <a:p>
          <a:r>
            <a:rPr lang="en-GB"/>
            <a:t>Data consistency (easy to retrieve and input data, better chance to quickly search for data)</a:t>
          </a:r>
          <a:endParaRPr lang="en-US"/>
        </a:p>
      </dgm:t>
    </dgm:pt>
    <dgm:pt modelId="{E871CBB6-760F-4A1F-A3FB-DF7ABF9713B5}" type="parTrans" cxnId="{727DB803-9E39-42A7-9738-7071CF551BAD}">
      <dgm:prSet/>
      <dgm:spPr/>
      <dgm:t>
        <a:bodyPr/>
        <a:lstStyle/>
        <a:p>
          <a:endParaRPr lang="en-US"/>
        </a:p>
      </dgm:t>
    </dgm:pt>
    <dgm:pt modelId="{9C4F201B-E0F0-4A3B-B922-0003F66ABFA9}" type="sibTrans" cxnId="{727DB803-9E39-42A7-9738-7071CF551BAD}">
      <dgm:prSet/>
      <dgm:spPr/>
      <dgm:t>
        <a:bodyPr/>
        <a:lstStyle/>
        <a:p>
          <a:endParaRPr lang="en-US"/>
        </a:p>
      </dgm:t>
    </dgm:pt>
    <dgm:pt modelId="{6FC07562-2A7A-4E0D-B53E-81162A4234EF}">
      <dgm:prSet/>
      <dgm:spPr/>
      <dgm:t>
        <a:bodyPr/>
        <a:lstStyle/>
        <a:p>
          <a:r>
            <a:rPr lang="en-GB"/>
            <a:t>Increase quality of the data</a:t>
          </a:r>
          <a:endParaRPr lang="en-US"/>
        </a:p>
      </dgm:t>
    </dgm:pt>
    <dgm:pt modelId="{F0F3359D-70C6-49BF-A816-9021E1527617}" type="parTrans" cxnId="{E9E9373B-7C92-4E0B-8C3A-1F429547882D}">
      <dgm:prSet/>
      <dgm:spPr/>
      <dgm:t>
        <a:bodyPr/>
        <a:lstStyle/>
        <a:p>
          <a:endParaRPr lang="en-US"/>
        </a:p>
      </dgm:t>
    </dgm:pt>
    <dgm:pt modelId="{4A7F5CAF-5327-4940-9CFE-B9C554F3E5AA}" type="sibTrans" cxnId="{E9E9373B-7C92-4E0B-8C3A-1F429547882D}">
      <dgm:prSet/>
      <dgm:spPr/>
      <dgm:t>
        <a:bodyPr/>
        <a:lstStyle/>
        <a:p>
          <a:endParaRPr lang="en-US"/>
        </a:p>
      </dgm:t>
    </dgm:pt>
    <dgm:pt modelId="{3949CEA6-8399-4EED-A20B-DEF019BD2FD9}" type="pres">
      <dgm:prSet presAssocID="{FE1CBA6B-3BE4-4E57-A606-33DAF983AD52}" presName="linear" presStyleCnt="0">
        <dgm:presLayoutVars>
          <dgm:animLvl val="lvl"/>
          <dgm:resizeHandles val="exact"/>
        </dgm:presLayoutVars>
      </dgm:prSet>
      <dgm:spPr/>
    </dgm:pt>
    <dgm:pt modelId="{44CE7523-CABA-4474-A258-428C16EEF59B}" type="pres">
      <dgm:prSet presAssocID="{550D14E0-B384-46A5-AA1B-5CC9A12A63B1}" presName="parentText" presStyleLbl="node1" presStyleIdx="0" presStyleCnt="4">
        <dgm:presLayoutVars>
          <dgm:chMax val="0"/>
          <dgm:bulletEnabled val="1"/>
        </dgm:presLayoutVars>
      </dgm:prSet>
      <dgm:spPr/>
    </dgm:pt>
    <dgm:pt modelId="{FF94B34E-B247-4261-B9CF-8892971A2CFB}" type="pres">
      <dgm:prSet presAssocID="{4C5542A2-E38A-420C-902E-02AF40B47B60}" presName="spacer" presStyleCnt="0"/>
      <dgm:spPr/>
    </dgm:pt>
    <dgm:pt modelId="{E5BDCE10-B148-46EA-B6C1-EB6C2130885B}" type="pres">
      <dgm:prSet presAssocID="{D7FF0E7C-2932-4368-A11B-18DDA34FF56B}" presName="parentText" presStyleLbl="node1" presStyleIdx="1" presStyleCnt="4">
        <dgm:presLayoutVars>
          <dgm:chMax val="0"/>
          <dgm:bulletEnabled val="1"/>
        </dgm:presLayoutVars>
      </dgm:prSet>
      <dgm:spPr/>
    </dgm:pt>
    <dgm:pt modelId="{F903EC1F-731B-4C52-B049-4E4A3A87B9A5}" type="pres">
      <dgm:prSet presAssocID="{24E3EF2E-4666-4902-83DB-429806BC11EC}" presName="spacer" presStyleCnt="0"/>
      <dgm:spPr/>
    </dgm:pt>
    <dgm:pt modelId="{53F9A39C-C08A-4A85-B0CF-89352E101FCB}" type="pres">
      <dgm:prSet presAssocID="{04E9457A-49EC-429A-99DA-782BA8B4A8F0}" presName="parentText" presStyleLbl="node1" presStyleIdx="2" presStyleCnt="4">
        <dgm:presLayoutVars>
          <dgm:chMax val="0"/>
          <dgm:bulletEnabled val="1"/>
        </dgm:presLayoutVars>
      </dgm:prSet>
      <dgm:spPr/>
    </dgm:pt>
    <dgm:pt modelId="{DEC4C1D8-1B91-4706-8A6C-DD45ABD488A3}" type="pres">
      <dgm:prSet presAssocID="{9C4F201B-E0F0-4A3B-B922-0003F66ABFA9}" presName="spacer" presStyleCnt="0"/>
      <dgm:spPr/>
    </dgm:pt>
    <dgm:pt modelId="{4346A4A4-807E-49E9-911F-6725210A4B87}" type="pres">
      <dgm:prSet presAssocID="{6FC07562-2A7A-4E0D-B53E-81162A4234EF}" presName="parentText" presStyleLbl="node1" presStyleIdx="3" presStyleCnt="4">
        <dgm:presLayoutVars>
          <dgm:chMax val="0"/>
          <dgm:bulletEnabled val="1"/>
        </dgm:presLayoutVars>
      </dgm:prSet>
      <dgm:spPr/>
    </dgm:pt>
  </dgm:ptLst>
  <dgm:cxnLst>
    <dgm:cxn modelId="{727DB803-9E39-42A7-9738-7071CF551BAD}" srcId="{FE1CBA6B-3BE4-4E57-A606-33DAF983AD52}" destId="{04E9457A-49EC-429A-99DA-782BA8B4A8F0}" srcOrd="2" destOrd="0" parTransId="{E871CBB6-760F-4A1F-A3FB-DF7ABF9713B5}" sibTransId="{9C4F201B-E0F0-4A3B-B922-0003F66ABFA9}"/>
    <dgm:cxn modelId="{1CF2DE2E-EFB9-4DA7-BFF9-82F851CAC28C}" srcId="{FE1CBA6B-3BE4-4E57-A606-33DAF983AD52}" destId="{D7FF0E7C-2932-4368-A11B-18DDA34FF56B}" srcOrd="1" destOrd="0" parTransId="{D5465DAA-BEE3-42AE-B0B4-A35B9A197500}" sibTransId="{24E3EF2E-4666-4902-83DB-429806BC11EC}"/>
    <dgm:cxn modelId="{E9E9373B-7C92-4E0B-8C3A-1F429547882D}" srcId="{FE1CBA6B-3BE4-4E57-A606-33DAF983AD52}" destId="{6FC07562-2A7A-4E0D-B53E-81162A4234EF}" srcOrd="3" destOrd="0" parTransId="{F0F3359D-70C6-49BF-A816-9021E1527617}" sibTransId="{4A7F5CAF-5327-4940-9CFE-B9C554F3E5AA}"/>
    <dgm:cxn modelId="{6FEEC645-5F1B-4105-BF1E-27EBC9586D06}" type="presOf" srcId="{6FC07562-2A7A-4E0D-B53E-81162A4234EF}" destId="{4346A4A4-807E-49E9-911F-6725210A4B87}" srcOrd="0" destOrd="0" presId="urn:microsoft.com/office/officeart/2005/8/layout/vList2"/>
    <dgm:cxn modelId="{F76696A4-1C47-41EB-9540-38ECF6BDC330}" type="presOf" srcId="{FE1CBA6B-3BE4-4E57-A606-33DAF983AD52}" destId="{3949CEA6-8399-4EED-A20B-DEF019BD2FD9}" srcOrd="0" destOrd="0" presId="urn:microsoft.com/office/officeart/2005/8/layout/vList2"/>
    <dgm:cxn modelId="{88F52EBB-56C6-4739-A720-9BCB9E3CC15B}" type="presOf" srcId="{04E9457A-49EC-429A-99DA-782BA8B4A8F0}" destId="{53F9A39C-C08A-4A85-B0CF-89352E101FCB}" srcOrd="0" destOrd="0" presId="urn:microsoft.com/office/officeart/2005/8/layout/vList2"/>
    <dgm:cxn modelId="{2310A8BB-997E-47BA-8A1B-7A774A1526CD}" type="presOf" srcId="{D7FF0E7C-2932-4368-A11B-18DDA34FF56B}" destId="{E5BDCE10-B148-46EA-B6C1-EB6C2130885B}" srcOrd="0" destOrd="0" presId="urn:microsoft.com/office/officeart/2005/8/layout/vList2"/>
    <dgm:cxn modelId="{739AD1F2-AB00-4C51-BDB6-870E4862C31A}" type="presOf" srcId="{550D14E0-B384-46A5-AA1B-5CC9A12A63B1}" destId="{44CE7523-CABA-4474-A258-428C16EEF59B}" srcOrd="0" destOrd="0" presId="urn:microsoft.com/office/officeart/2005/8/layout/vList2"/>
    <dgm:cxn modelId="{E0E0E9F2-2A8B-4CE5-804D-0AFA83F9ADE5}" srcId="{FE1CBA6B-3BE4-4E57-A606-33DAF983AD52}" destId="{550D14E0-B384-46A5-AA1B-5CC9A12A63B1}" srcOrd="0" destOrd="0" parTransId="{32B5D53D-2D62-4B77-8B83-BAEF3D8B7F06}" sibTransId="{4C5542A2-E38A-420C-902E-02AF40B47B60}"/>
    <dgm:cxn modelId="{78B0D6C7-FB26-4AE4-ABE4-8B93D1F115E0}" type="presParOf" srcId="{3949CEA6-8399-4EED-A20B-DEF019BD2FD9}" destId="{44CE7523-CABA-4474-A258-428C16EEF59B}" srcOrd="0" destOrd="0" presId="urn:microsoft.com/office/officeart/2005/8/layout/vList2"/>
    <dgm:cxn modelId="{BA2CFA8A-3F0E-470E-A1A0-584D8D3B914F}" type="presParOf" srcId="{3949CEA6-8399-4EED-A20B-DEF019BD2FD9}" destId="{FF94B34E-B247-4261-B9CF-8892971A2CFB}" srcOrd="1" destOrd="0" presId="urn:microsoft.com/office/officeart/2005/8/layout/vList2"/>
    <dgm:cxn modelId="{EF5D193C-40F5-41CE-A609-EA3D347A8458}" type="presParOf" srcId="{3949CEA6-8399-4EED-A20B-DEF019BD2FD9}" destId="{E5BDCE10-B148-46EA-B6C1-EB6C2130885B}" srcOrd="2" destOrd="0" presId="urn:microsoft.com/office/officeart/2005/8/layout/vList2"/>
    <dgm:cxn modelId="{ECC6DD68-4BE6-4B1E-A4CD-4209E8A05CF6}" type="presParOf" srcId="{3949CEA6-8399-4EED-A20B-DEF019BD2FD9}" destId="{F903EC1F-731B-4C52-B049-4E4A3A87B9A5}" srcOrd="3" destOrd="0" presId="urn:microsoft.com/office/officeart/2005/8/layout/vList2"/>
    <dgm:cxn modelId="{C4A1B3CD-D5D2-4B7D-8FA1-342E976C1DAF}" type="presParOf" srcId="{3949CEA6-8399-4EED-A20B-DEF019BD2FD9}" destId="{53F9A39C-C08A-4A85-B0CF-89352E101FCB}" srcOrd="4" destOrd="0" presId="urn:microsoft.com/office/officeart/2005/8/layout/vList2"/>
    <dgm:cxn modelId="{E2603C80-B4F2-4916-B463-2DCB5B38D186}" type="presParOf" srcId="{3949CEA6-8399-4EED-A20B-DEF019BD2FD9}" destId="{DEC4C1D8-1B91-4706-8A6C-DD45ABD488A3}" srcOrd="5" destOrd="0" presId="urn:microsoft.com/office/officeart/2005/8/layout/vList2"/>
    <dgm:cxn modelId="{A46C288C-AD88-4429-AFA0-C925878C2428}" type="presParOf" srcId="{3949CEA6-8399-4EED-A20B-DEF019BD2FD9}" destId="{4346A4A4-807E-49E9-911F-6725210A4B87}"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F5A190-6017-4346-9AA2-9388E080F5E9}">
      <dsp:nvSpPr>
        <dsp:cNvPr id="0" name=""/>
        <dsp:cNvSpPr/>
      </dsp:nvSpPr>
      <dsp:spPr>
        <a:xfrm>
          <a:off x="835" y="0"/>
          <a:ext cx="3382956" cy="374015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4161" tIns="0" rIns="334161" bIns="330200" numCol="1" spcCol="1270" anchor="t" anchorCtr="0">
          <a:noAutofit/>
        </a:bodyPr>
        <a:lstStyle/>
        <a:p>
          <a:pPr marL="0" lvl="0" indent="0" algn="l" defTabSz="1155700">
            <a:lnSpc>
              <a:spcPct val="90000"/>
            </a:lnSpc>
            <a:spcBef>
              <a:spcPct val="0"/>
            </a:spcBef>
            <a:spcAft>
              <a:spcPct val="35000"/>
            </a:spcAft>
            <a:buNone/>
          </a:pPr>
          <a:r>
            <a:rPr lang="en-GB" sz="2600" kern="1200" dirty="0"/>
            <a:t>Data Model</a:t>
          </a:r>
          <a:endParaRPr lang="en-US" sz="2600" kern="1200" dirty="0"/>
        </a:p>
      </dsp:txBody>
      <dsp:txXfrm>
        <a:off x="835" y="1496059"/>
        <a:ext cx="3382956" cy="2244090"/>
      </dsp:txXfrm>
    </dsp:sp>
    <dsp:sp modelId="{05C2354C-212D-40C5-BC6F-2D6CD2EC120F}">
      <dsp:nvSpPr>
        <dsp:cNvPr id="0" name=""/>
        <dsp:cNvSpPr/>
      </dsp:nvSpPr>
      <dsp:spPr>
        <a:xfrm>
          <a:off x="835" y="0"/>
          <a:ext cx="3382956" cy="149606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34161" tIns="165100" rIns="334161" bIns="165100" numCol="1" spcCol="1270" anchor="ctr" anchorCtr="0">
          <a:noAutofit/>
        </a:bodyPr>
        <a:lstStyle/>
        <a:p>
          <a:pPr marL="0" lvl="0" indent="0" algn="l" defTabSz="2933700">
            <a:lnSpc>
              <a:spcPct val="90000"/>
            </a:lnSpc>
            <a:spcBef>
              <a:spcPct val="0"/>
            </a:spcBef>
            <a:spcAft>
              <a:spcPct val="35000"/>
            </a:spcAft>
            <a:buNone/>
          </a:pPr>
          <a:r>
            <a:rPr lang="en-US" sz="6600" kern="1200" dirty="0"/>
            <a:t>01</a:t>
          </a:r>
        </a:p>
      </dsp:txBody>
      <dsp:txXfrm>
        <a:off x="835" y="0"/>
        <a:ext cx="3382956" cy="1496060"/>
      </dsp:txXfrm>
    </dsp:sp>
    <dsp:sp modelId="{1C665BD9-C10B-44C7-B7DE-6493832AAEE5}">
      <dsp:nvSpPr>
        <dsp:cNvPr id="0" name=""/>
        <dsp:cNvSpPr/>
      </dsp:nvSpPr>
      <dsp:spPr>
        <a:xfrm>
          <a:off x="3654427" y="0"/>
          <a:ext cx="3382956" cy="3740150"/>
        </a:xfrm>
        <a:prstGeom prst="rect">
          <a:avLst/>
        </a:prstGeom>
        <a:solidFill>
          <a:schemeClr val="accent2">
            <a:hueOff val="-203606"/>
            <a:satOff val="-1745"/>
            <a:lumOff val="-11568"/>
            <a:alphaOff val="0"/>
          </a:schemeClr>
        </a:solidFill>
        <a:ln w="12700" cap="flat" cmpd="sng" algn="ctr">
          <a:solidFill>
            <a:schemeClr val="accent2">
              <a:hueOff val="-203606"/>
              <a:satOff val="-1745"/>
              <a:lumOff val="-1156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4161" tIns="0" rIns="334161" bIns="330200" numCol="1" spcCol="1270" anchor="t" anchorCtr="0">
          <a:noAutofit/>
        </a:bodyPr>
        <a:lstStyle/>
        <a:p>
          <a:pPr marL="0" lvl="0" indent="0" algn="l" defTabSz="1155700">
            <a:lnSpc>
              <a:spcPct val="90000"/>
            </a:lnSpc>
            <a:spcBef>
              <a:spcPct val="0"/>
            </a:spcBef>
            <a:spcAft>
              <a:spcPct val="35000"/>
            </a:spcAft>
            <a:buNone/>
          </a:pPr>
          <a:r>
            <a:rPr lang="en-GB" sz="2600" kern="1200" dirty="0"/>
            <a:t>Normalisation</a:t>
          </a:r>
          <a:endParaRPr lang="en-US" sz="2600" kern="1200" dirty="0"/>
        </a:p>
      </dsp:txBody>
      <dsp:txXfrm>
        <a:off x="3654427" y="1496059"/>
        <a:ext cx="3382956" cy="2244090"/>
      </dsp:txXfrm>
    </dsp:sp>
    <dsp:sp modelId="{2D5DC0C2-6FAB-4777-8468-623ED9BEB278}">
      <dsp:nvSpPr>
        <dsp:cNvPr id="0" name=""/>
        <dsp:cNvSpPr/>
      </dsp:nvSpPr>
      <dsp:spPr>
        <a:xfrm>
          <a:off x="3654427" y="0"/>
          <a:ext cx="3382956" cy="149606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34161" tIns="165100" rIns="334161" bIns="165100" numCol="1" spcCol="1270" anchor="ctr" anchorCtr="0">
          <a:noAutofit/>
        </a:bodyPr>
        <a:lstStyle/>
        <a:p>
          <a:pPr marL="0" lvl="0" indent="0" algn="l" defTabSz="2933700">
            <a:lnSpc>
              <a:spcPct val="90000"/>
            </a:lnSpc>
            <a:spcBef>
              <a:spcPct val="0"/>
            </a:spcBef>
            <a:spcAft>
              <a:spcPct val="35000"/>
            </a:spcAft>
            <a:buNone/>
          </a:pPr>
          <a:r>
            <a:rPr lang="en-US" sz="6600" kern="1200" dirty="0"/>
            <a:t>02</a:t>
          </a:r>
        </a:p>
      </dsp:txBody>
      <dsp:txXfrm>
        <a:off x="3654427" y="0"/>
        <a:ext cx="3382956" cy="1496060"/>
      </dsp:txXfrm>
    </dsp:sp>
    <dsp:sp modelId="{14A2891E-33FD-4791-8F71-F60BE2BB425F}">
      <dsp:nvSpPr>
        <dsp:cNvPr id="0" name=""/>
        <dsp:cNvSpPr/>
      </dsp:nvSpPr>
      <dsp:spPr>
        <a:xfrm>
          <a:off x="7308020" y="0"/>
          <a:ext cx="3382956" cy="3740150"/>
        </a:xfrm>
        <a:prstGeom prst="rect">
          <a:avLst/>
        </a:prstGeom>
        <a:solidFill>
          <a:schemeClr val="accent2">
            <a:hueOff val="-407213"/>
            <a:satOff val="-3490"/>
            <a:lumOff val="-23137"/>
            <a:alphaOff val="0"/>
          </a:schemeClr>
        </a:solidFill>
        <a:ln w="12700" cap="flat" cmpd="sng" algn="ctr">
          <a:solidFill>
            <a:schemeClr val="accent2">
              <a:hueOff val="-407213"/>
              <a:satOff val="-3490"/>
              <a:lumOff val="-2313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4161" tIns="0" rIns="334161" bIns="330200" numCol="1" spcCol="1270" anchor="t" anchorCtr="0">
          <a:noAutofit/>
        </a:bodyPr>
        <a:lstStyle/>
        <a:p>
          <a:pPr marL="0" lvl="0" indent="0" algn="l" defTabSz="1155700">
            <a:lnSpc>
              <a:spcPct val="90000"/>
            </a:lnSpc>
            <a:spcBef>
              <a:spcPct val="0"/>
            </a:spcBef>
            <a:spcAft>
              <a:spcPct val="35000"/>
            </a:spcAft>
            <a:buNone/>
          </a:pPr>
          <a:r>
            <a:rPr lang="en-GB" sz="2600" kern="1200" dirty="0"/>
            <a:t>Table Relationships</a:t>
          </a:r>
          <a:endParaRPr lang="en-US" sz="2600" kern="1200" dirty="0"/>
        </a:p>
      </dsp:txBody>
      <dsp:txXfrm>
        <a:off x="7308020" y="1496059"/>
        <a:ext cx="3382956" cy="2244090"/>
      </dsp:txXfrm>
    </dsp:sp>
    <dsp:sp modelId="{D9F058AD-1783-4930-964E-589A3768F6EB}">
      <dsp:nvSpPr>
        <dsp:cNvPr id="0" name=""/>
        <dsp:cNvSpPr/>
      </dsp:nvSpPr>
      <dsp:spPr>
        <a:xfrm>
          <a:off x="7308020" y="0"/>
          <a:ext cx="3382956" cy="149606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34161" tIns="165100" rIns="334161" bIns="165100" numCol="1" spcCol="1270" anchor="ctr" anchorCtr="0">
          <a:noAutofit/>
        </a:bodyPr>
        <a:lstStyle/>
        <a:p>
          <a:pPr marL="0" lvl="0" indent="0" algn="l" defTabSz="2933700">
            <a:lnSpc>
              <a:spcPct val="90000"/>
            </a:lnSpc>
            <a:spcBef>
              <a:spcPct val="0"/>
            </a:spcBef>
            <a:spcAft>
              <a:spcPct val="35000"/>
            </a:spcAft>
            <a:buNone/>
          </a:pPr>
          <a:r>
            <a:rPr lang="en-US" sz="6600" kern="1200" dirty="0"/>
            <a:t>03</a:t>
          </a:r>
        </a:p>
      </dsp:txBody>
      <dsp:txXfrm>
        <a:off x="7308020" y="0"/>
        <a:ext cx="3382956" cy="14960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A6B21F-1D05-42A7-806A-D6AF28C786D9}">
      <dsp:nvSpPr>
        <dsp:cNvPr id="0" name=""/>
        <dsp:cNvSpPr/>
      </dsp:nvSpPr>
      <dsp:spPr>
        <a:xfrm>
          <a:off x="0" y="2734"/>
          <a:ext cx="5658817" cy="124001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6DC009-CA5A-4AAB-A1CF-3BF176E642B1}">
      <dsp:nvSpPr>
        <dsp:cNvPr id="0" name=""/>
        <dsp:cNvSpPr/>
      </dsp:nvSpPr>
      <dsp:spPr>
        <a:xfrm>
          <a:off x="375105" y="281738"/>
          <a:ext cx="682677" cy="68201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1EC879-2E9C-4D27-8A8A-680C1155BBCC}">
      <dsp:nvSpPr>
        <dsp:cNvPr id="0" name=""/>
        <dsp:cNvSpPr/>
      </dsp:nvSpPr>
      <dsp:spPr>
        <a:xfrm>
          <a:off x="1432888" y="2734"/>
          <a:ext cx="4203861" cy="12787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336" tIns="135336" rIns="135336" bIns="135336" numCol="1" spcCol="1270" anchor="ctr" anchorCtr="0">
          <a:noAutofit/>
        </a:bodyPr>
        <a:lstStyle/>
        <a:p>
          <a:pPr marL="0" lvl="0" indent="0" algn="l" defTabSz="622300">
            <a:lnSpc>
              <a:spcPct val="100000"/>
            </a:lnSpc>
            <a:spcBef>
              <a:spcPct val="0"/>
            </a:spcBef>
            <a:spcAft>
              <a:spcPct val="35000"/>
            </a:spcAft>
            <a:buNone/>
          </a:pPr>
          <a:r>
            <a:rPr lang="en-GB" sz="1400" b="1" kern="1200"/>
            <a:t>Entities (Tables):</a:t>
          </a:r>
          <a:r>
            <a:rPr lang="en-GB" sz="1400" kern="1200"/>
            <a:t> The distinct concepts or events you are tracking, such as Patrons, Library Items, or Circulation Transactions.</a:t>
          </a:r>
          <a:endParaRPr lang="en-US" sz="1400" kern="1200"/>
        </a:p>
      </dsp:txBody>
      <dsp:txXfrm>
        <a:off x="1432888" y="2734"/>
        <a:ext cx="4203861" cy="1278769"/>
      </dsp:txXfrm>
    </dsp:sp>
    <dsp:sp modelId="{376127DF-0804-4487-A581-98F06ECAB6CE}">
      <dsp:nvSpPr>
        <dsp:cNvPr id="0" name=""/>
        <dsp:cNvSpPr/>
      </dsp:nvSpPr>
      <dsp:spPr>
        <a:xfrm>
          <a:off x="0" y="1601196"/>
          <a:ext cx="5658817" cy="124001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D75FF8-334B-4D45-80E2-2EE02F109E0C}">
      <dsp:nvSpPr>
        <dsp:cNvPr id="0" name=""/>
        <dsp:cNvSpPr/>
      </dsp:nvSpPr>
      <dsp:spPr>
        <a:xfrm>
          <a:off x="375105" y="1880200"/>
          <a:ext cx="682677" cy="68201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F917969-BD92-4960-B16F-4DF7C10CAAA5}">
      <dsp:nvSpPr>
        <dsp:cNvPr id="0" name=""/>
        <dsp:cNvSpPr/>
      </dsp:nvSpPr>
      <dsp:spPr>
        <a:xfrm>
          <a:off x="1432888" y="1601196"/>
          <a:ext cx="4203861" cy="12787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336" tIns="135336" rIns="135336" bIns="135336" numCol="1" spcCol="1270" anchor="ctr" anchorCtr="0">
          <a:noAutofit/>
        </a:bodyPr>
        <a:lstStyle/>
        <a:p>
          <a:pPr marL="0" lvl="0" indent="0" algn="l" defTabSz="622300">
            <a:lnSpc>
              <a:spcPct val="100000"/>
            </a:lnSpc>
            <a:spcBef>
              <a:spcPct val="0"/>
            </a:spcBef>
            <a:spcAft>
              <a:spcPct val="35000"/>
            </a:spcAft>
            <a:buNone/>
          </a:pPr>
          <a:r>
            <a:rPr lang="en-GB" sz="1400" b="1" kern="1200"/>
            <a:t>Attributes (Columns):</a:t>
          </a:r>
          <a:r>
            <a:rPr lang="en-GB" sz="1400" kern="1200"/>
            <a:t> The specific characteristics describing those entities, such as Patron Type, Publication Year, or Checkout Date.</a:t>
          </a:r>
          <a:endParaRPr lang="en-US" sz="1400" kern="1200"/>
        </a:p>
      </dsp:txBody>
      <dsp:txXfrm>
        <a:off x="1432888" y="1601196"/>
        <a:ext cx="4203861" cy="1278769"/>
      </dsp:txXfrm>
    </dsp:sp>
    <dsp:sp modelId="{FB03E384-CA04-43E1-9602-9B50E140CDBD}">
      <dsp:nvSpPr>
        <dsp:cNvPr id="0" name=""/>
        <dsp:cNvSpPr/>
      </dsp:nvSpPr>
      <dsp:spPr>
        <a:xfrm>
          <a:off x="0" y="3199658"/>
          <a:ext cx="5658817" cy="124001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0DFD63-FB4A-4D0C-9035-C1B3A47401BC}">
      <dsp:nvSpPr>
        <dsp:cNvPr id="0" name=""/>
        <dsp:cNvSpPr/>
      </dsp:nvSpPr>
      <dsp:spPr>
        <a:xfrm>
          <a:off x="375472" y="3478663"/>
          <a:ext cx="682677" cy="68201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E63813-495F-467D-A83D-7B4A81D9DA5E}">
      <dsp:nvSpPr>
        <dsp:cNvPr id="0" name=""/>
        <dsp:cNvSpPr/>
      </dsp:nvSpPr>
      <dsp:spPr>
        <a:xfrm>
          <a:off x="1433622" y="3199658"/>
          <a:ext cx="4180394" cy="12787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336" tIns="135336" rIns="135336" bIns="135336" numCol="1" spcCol="1270" anchor="ctr" anchorCtr="0">
          <a:noAutofit/>
        </a:bodyPr>
        <a:lstStyle/>
        <a:p>
          <a:pPr marL="0" lvl="0" indent="0" algn="l" defTabSz="622300">
            <a:lnSpc>
              <a:spcPct val="100000"/>
            </a:lnSpc>
            <a:spcBef>
              <a:spcPct val="0"/>
            </a:spcBef>
            <a:spcAft>
              <a:spcPct val="35000"/>
            </a:spcAft>
            <a:buNone/>
          </a:pPr>
          <a:r>
            <a:rPr lang="en-GB" sz="1400" b="1" kern="1200"/>
            <a:t>Relationships (Links):</a:t>
          </a:r>
          <a:r>
            <a:rPr lang="en-GB" sz="1400" kern="1200"/>
            <a:t> The defined connections between the tables. For example, a relationship connects the “Accession No" in a checkout log to the identical " Accession No " in the book inventory table.</a:t>
          </a:r>
          <a:endParaRPr lang="en-US" sz="1400" kern="1200"/>
        </a:p>
      </dsp:txBody>
      <dsp:txXfrm>
        <a:off x="1433622" y="3199658"/>
        <a:ext cx="4180394" cy="127876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CE7523-CABA-4474-A258-428C16EEF59B}">
      <dsp:nvSpPr>
        <dsp:cNvPr id="0" name=""/>
        <dsp:cNvSpPr/>
      </dsp:nvSpPr>
      <dsp:spPr>
        <a:xfrm>
          <a:off x="0" y="352949"/>
          <a:ext cx="6581776" cy="95062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kern="1200" dirty="0"/>
            <a:t>“Clean” up the data</a:t>
          </a:r>
          <a:endParaRPr lang="en-US" sz="2500" kern="1200" dirty="0"/>
        </a:p>
      </dsp:txBody>
      <dsp:txXfrm>
        <a:off x="46406" y="399355"/>
        <a:ext cx="6488964" cy="857813"/>
      </dsp:txXfrm>
    </dsp:sp>
    <dsp:sp modelId="{E5BDCE10-B148-46EA-B6C1-EB6C2130885B}">
      <dsp:nvSpPr>
        <dsp:cNvPr id="0" name=""/>
        <dsp:cNvSpPr/>
      </dsp:nvSpPr>
      <dsp:spPr>
        <a:xfrm>
          <a:off x="0" y="1375574"/>
          <a:ext cx="6581776" cy="950625"/>
        </a:xfrm>
        <a:prstGeom prst="roundRect">
          <a:avLst/>
        </a:prstGeom>
        <a:solidFill>
          <a:schemeClr val="accent2">
            <a:hueOff val="-135738"/>
            <a:satOff val="-1163"/>
            <a:lumOff val="-77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kern="1200"/>
            <a:t>Ensure a proper structure of the data</a:t>
          </a:r>
          <a:endParaRPr lang="en-US" sz="2500" kern="1200"/>
        </a:p>
      </dsp:txBody>
      <dsp:txXfrm>
        <a:off x="46406" y="1421980"/>
        <a:ext cx="6488964" cy="857813"/>
      </dsp:txXfrm>
    </dsp:sp>
    <dsp:sp modelId="{53F9A39C-C08A-4A85-B0CF-89352E101FCB}">
      <dsp:nvSpPr>
        <dsp:cNvPr id="0" name=""/>
        <dsp:cNvSpPr/>
      </dsp:nvSpPr>
      <dsp:spPr>
        <a:xfrm>
          <a:off x="0" y="2398199"/>
          <a:ext cx="6581776" cy="950625"/>
        </a:xfrm>
        <a:prstGeom prst="roundRect">
          <a:avLst/>
        </a:prstGeom>
        <a:solidFill>
          <a:schemeClr val="accent2">
            <a:hueOff val="-271475"/>
            <a:satOff val="-2327"/>
            <a:lumOff val="-1542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kern="1200"/>
            <a:t>Data consistency (easy to retrieve and input data, better chance to quickly search for data)</a:t>
          </a:r>
          <a:endParaRPr lang="en-US" sz="2500" kern="1200"/>
        </a:p>
      </dsp:txBody>
      <dsp:txXfrm>
        <a:off x="46406" y="2444605"/>
        <a:ext cx="6488964" cy="857813"/>
      </dsp:txXfrm>
    </dsp:sp>
    <dsp:sp modelId="{4346A4A4-807E-49E9-911F-6725210A4B87}">
      <dsp:nvSpPr>
        <dsp:cNvPr id="0" name=""/>
        <dsp:cNvSpPr/>
      </dsp:nvSpPr>
      <dsp:spPr>
        <a:xfrm>
          <a:off x="0" y="3420825"/>
          <a:ext cx="6581776" cy="950625"/>
        </a:xfrm>
        <a:prstGeom prst="roundRect">
          <a:avLst/>
        </a:prstGeom>
        <a:solidFill>
          <a:schemeClr val="accent2">
            <a:hueOff val="-407213"/>
            <a:satOff val="-3490"/>
            <a:lumOff val="-2313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kern="1200"/>
            <a:t>Increase quality of the data</a:t>
          </a:r>
          <a:endParaRPr lang="en-US" sz="2500" kern="1200"/>
        </a:p>
      </dsp:txBody>
      <dsp:txXfrm>
        <a:off x="46406" y="3467231"/>
        <a:ext cx="6488964" cy="857813"/>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6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8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9/2/2026</a:t>
            </a:fld>
            <a:endParaRPr lang="en-US" dirty="0"/>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22971062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9/2/2026</a:t>
            </a:fld>
            <a:endParaRPr lang="en-US" dirty="0"/>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18869477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9/2/2026</a:t>
            </a:fld>
            <a:endParaRPr lang="en-US" dirty="0"/>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385169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9/2/2026</a:t>
            </a:fld>
            <a:endParaRPr lang="en-US" dirty="0"/>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3047402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9/2/2026</a:t>
            </a:fld>
            <a:endParaRPr lang="en-US" dirty="0"/>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578931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9/2/2026</a:t>
            </a:fld>
            <a:endParaRPr lang="en-US" dirty="0"/>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3766636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9/2/2026</a:t>
            </a:fld>
            <a:endParaRPr lang="en-US" dirty="0"/>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1281927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9/2/2026</a:t>
            </a:fld>
            <a:endParaRPr lang="en-US" dirty="0"/>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12596011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9/2/2026</a:t>
            </a:fld>
            <a:endParaRPr lang="en-US" dirty="0"/>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230850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9/2/2026</a:t>
            </a:fld>
            <a:endParaRPr lang="en-US" dirty="0"/>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636249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9/2/2026</a:t>
            </a:fld>
            <a:endParaRPr lang="en-US" dirty="0"/>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289543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9/2/2026</a:t>
            </a:fld>
            <a:endParaRPr lang="en-US" dirty="0"/>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dirty="0"/>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9558531"/>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6.jpe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NvrpuBAMddw" TargetMode="Externa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29BDB4E-F27C-C25C-9524-EB9F328C4E11}"/>
              </a:ext>
            </a:extLst>
          </p:cNvPr>
          <p:cNvSpPr>
            <a:spLocks noGrp="1"/>
          </p:cNvSpPr>
          <p:nvPr>
            <p:ph type="ctrTitle"/>
          </p:nvPr>
        </p:nvSpPr>
        <p:spPr>
          <a:xfrm>
            <a:off x="5604552" y="1977076"/>
            <a:ext cx="5825448" cy="3871143"/>
          </a:xfrm>
        </p:spPr>
        <p:txBody>
          <a:bodyPr>
            <a:normAutofit/>
          </a:bodyPr>
          <a:lstStyle/>
          <a:p>
            <a:r>
              <a:rPr lang="en-GB" b="1" dirty="0"/>
              <a:t>Data Model and Relationships</a:t>
            </a:r>
          </a:p>
        </p:txBody>
      </p:sp>
      <p:pic>
        <p:nvPicPr>
          <p:cNvPr id="4" name="Picture 3" descr="Web of wires connecting pins">
            <a:extLst>
              <a:ext uri="{FF2B5EF4-FFF2-40B4-BE49-F238E27FC236}">
                <a16:creationId xmlns:a16="http://schemas.microsoft.com/office/drawing/2014/main" id="{05BCC47D-AEF8-6A40-77F0-9F9A4EC9A0F6}"/>
              </a:ext>
            </a:extLst>
          </p:cNvPr>
          <p:cNvPicPr>
            <a:picLocks noChangeAspect="1"/>
          </p:cNvPicPr>
          <p:nvPr/>
        </p:nvPicPr>
        <p:blipFill>
          <a:blip r:embed="rId2"/>
          <a:srcRect l="19438" r="33094" b="-1"/>
          <a:stretch>
            <a:fillRect/>
          </a:stretch>
        </p:blipFill>
        <p:spPr>
          <a:xfrm>
            <a:off x="1" y="10"/>
            <a:ext cx="4876799" cy="6857989"/>
          </a:xfrm>
          <a:prstGeom prst="rect">
            <a:avLst/>
          </a:prstGeom>
        </p:spPr>
      </p:pic>
      <p:cxnSp>
        <p:nvCxnSpPr>
          <p:cNvPr id="10" name="Straight Connector 9">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723900"/>
            <a:ext cx="5706224"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CF06E40-3ECB-4820-95B5-8A70B07D4B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6134100"/>
            <a:ext cx="56681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116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BAA3657-637C-7A8E-7F71-0916E44C9A0D}"/>
              </a:ext>
            </a:extLst>
          </p:cNvPr>
          <p:cNvSpPr>
            <a:spLocks noGrp="1"/>
          </p:cNvSpPr>
          <p:nvPr>
            <p:ph type="title"/>
          </p:nvPr>
        </p:nvSpPr>
        <p:spPr>
          <a:xfrm>
            <a:off x="700087" y="909638"/>
            <a:ext cx="10691813" cy="1155618"/>
          </a:xfrm>
        </p:spPr>
        <p:txBody>
          <a:bodyPr>
            <a:normAutofit/>
          </a:bodyPr>
          <a:lstStyle/>
          <a:p>
            <a:r>
              <a:rPr lang="en-GB" dirty="0"/>
              <a:t>Outline</a:t>
            </a:r>
          </a:p>
        </p:txBody>
      </p:sp>
      <p:cxnSp>
        <p:nvCxnSpPr>
          <p:cNvPr id="11" name="Straight Connector 10">
            <a:extLst>
              <a:ext uri="{FF2B5EF4-FFF2-40B4-BE49-F238E27FC236}">
                <a16:creationId xmlns:a16="http://schemas.microsoft.com/office/drawing/2014/main" id="{AAD0195E-7F27-4D06-9427-0C121D721A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D74C2FC-3228-4FC1-B97B-87AD35508D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0BD3D71B-F510-10C5-D493-86AEA557903B}"/>
              </a:ext>
            </a:extLst>
          </p:cNvPr>
          <p:cNvGraphicFramePr>
            <a:graphicFrameLocks noGrp="1"/>
          </p:cNvGraphicFramePr>
          <p:nvPr>
            <p:ph idx="1"/>
            <p:extLst>
              <p:ext uri="{D42A27DB-BD31-4B8C-83A1-F6EECF244321}">
                <p14:modId xmlns:p14="http://schemas.microsoft.com/office/powerpoint/2010/main" val="3482017465"/>
              </p:ext>
            </p:extLst>
          </p:nvPr>
        </p:nvGraphicFramePr>
        <p:xfrm>
          <a:off x="700088" y="2222500"/>
          <a:ext cx="10691812" cy="3740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17694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D68A79-E0CE-FFAD-5B52-46266373EEE7}"/>
              </a:ext>
            </a:extLst>
          </p:cNvPr>
          <p:cNvSpPr>
            <a:spLocks noGrp="1"/>
          </p:cNvSpPr>
          <p:nvPr>
            <p:ph type="title"/>
          </p:nvPr>
        </p:nvSpPr>
        <p:spPr>
          <a:xfrm>
            <a:off x="700088" y="909637"/>
            <a:ext cx="6400800" cy="1307592"/>
          </a:xfrm>
        </p:spPr>
        <p:txBody>
          <a:bodyPr>
            <a:normAutofit/>
          </a:bodyPr>
          <a:lstStyle/>
          <a:p>
            <a:r>
              <a:rPr lang="en-GB" dirty="0"/>
              <a:t>Data Model</a:t>
            </a:r>
          </a:p>
        </p:txBody>
      </p:sp>
      <p:cxnSp>
        <p:nvCxnSpPr>
          <p:cNvPr id="12" name="Straight Connector 11">
            <a:extLst>
              <a:ext uri="{FF2B5EF4-FFF2-40B4-BE49-F238E27FC236}">
                <a16:creationId xmlns:a16="http://schemas.microsoft.com/office/drawing/2014/main" id="{8E813B4C-6731-0B72-5252-A79AB0E20B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0F74845-0358-AAD0-25AA-F954B4B80AE9}"/>
              </a:ext>
            </a:extLst>
          </p:cNvPr>
          <p:cNvSpPr>
            <a:spLocks noGrp="1"/>
          </p:cNvSpPr>
          <p:nvPr>
            <p:ph idx="1"/>
          </p:nvPr>
        </p:nvSpPr>
        <p:spPr>
          <a:xfrm>
            <a:off x="700088" y="1778558"/>
            <a:ext cx="6787832" cy="4183330"/>
          </a:xfrm>
        </p:spPr>
        <p:txBody>
          <a:bodyPr>
            <a:normAutofit/>
          </a:bodyPr>
          <a:lstStyle/>
          <a:p>
            <a:r>
              <a:rPr lang="en-GB" dirty="0"/>
              <a:t>A data model is a structured framework that defines how information is organized, stored, and connected within a database or analytics tool like Power BI.</a:t>
            </a:r>
          </a:p>
          <a:p>
            <a:r>
              <a:rPr lang="en-GB" dirty="0"/>
              <a:t>You can think of it as the architectural blueprint for your data. Just as a library </a:t>
            </a:r>
            <a:r>
              <a:rPr lang="en-GB" dirty="0" err="1"/>
              <a:t>cataloging</a:t>
            </a:r>
            <a:r>
              <a:rPr lang="en-GB" dirty="0"/>
              <a:t> system dictates how authors, subjects, and call numbers relate to a physical book, a data model tells your software exactly how different spreadsheets or tables relate to one another.</a:t>
            </a:r>
          </a:p>
        </p:txBody>
      </p:sp>
      <p:pic>
        <p:nvPicPr>
          <p:cNvPr id="7" name="Graphic 6" descr="Database">
            <a:extLst>
              <a:ext uri="{FF2B5EF4-FFF2-40B4-BE49-F238E27FC236}">
                <a16:creationId xmlns:a16="http://schemas.microsoft.com/office/drawing/2014/main" id="{58D5F44E-E865-1E26-9DFB-0D44CBB45CB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487920" y="2102261"/>
            <a:ext cx="3903980" cy="3903980"/>
          </a:xfrm>
          <a:prstGeom prst="rect">
            <a:avLst/>
          </a:prstGeom>
        </p:spPr>
      </p:pic>
      <p:cxnSp>
        <p:nvCxnSpPr>
          <p:cNvPr id="14" name="Straight Connector 13">
            <a:extLst>
              <a:ext uri="{FF2B5EF4-FFF2-40B4-BE49-F238E27FC236}">
                <a16:creationId xmlns:a16="http://schemas.microsoft.com/office/drawing/2014/main" id="{6E0E8146-6E65-2E6C-0C86-547E3C9254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3496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10B7EB-A8BF-9EBA-163F-5800F937651E}"/>
              </a:ext>
            </a:extLst>
          </p:cNvPr>
          <p:cNvSpPr>
            <a:spLocks noGrp="1"/>
          </p:cNvSpPr>
          <p:nvPr>
            <p:ph type="title"/>
          </p:nvPr>
        </p:nvSpPr>
        <p:spPr>
          <a:xfrm>
            <a:off x="704088" y="914400"/>
            <a:ext cx="5195889" cy="1316736"/>
          </a:xfrm>
        </p:spPr>
        <p:txBody>
          <a:bodyPr>
            <a:normAutofit/>
          </a:bodyPr>
          <a:lstStyle/>
          <a:p>
            <a:r>
              <a:rPr lang="en-GB" dirty="0"/>
              <a:t>components of DATA MODEL</a:t>
            </a:r>
          </a:p>
        </p:txBody>
      </p:sp>
      <p:cxnSp>
        <p:nvCxnSpPr>
          <p:cNvPr id="11" name="Straight Connector 10">
            <a:extLst>
              <a:ext uri="{FF2B5EF4-FFF2-40B4-BE49-F238E27FC236}">
                <a16:creationId xmlns:a16="http://schemas.microsoft.com/office/drawing/2014/main" id="{F2B951FD-94F7-E138-3EC2-A66A551D91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5" name="Content Placeholder 2">
            <a:extLst>
              <a:ext uri="{FF2B5EF4-FFF2-40B4-BE49-F238E27FC236}">
                <a16:creationId xmlns:a16="http://schemas.microsoft.com/office/drawing/2014/main" id="{EE7A0298-6E02-70CA-8C7C-A93F909D6028}"/>
              </a:ext>
            </a:extLst>
          </p:cNvPr>
          <p:cNvGraphicFramePr>
            <a:graphicFrameLocks noGrp="1"/>
          </p:cNvGraphicFramePr>
          <p:nvPr>
            <p:ph idx="1"/>
          </p:nvPr>
        </p:nvGraphicFramePr>
        <p:xfrm>
          <a:off x="241160" y="2231135"/>
          <a:ext cx="5658817" cy="44811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descr="3D rendering of game pieces tied together with a rope">
            <a:extLst>
              <a:ext uri="{FF2B5EF4-FFF2-40B4-BE49-F238E27FC236}">
                <a16:creationId xmlns:a16="http://schemas.microsoft.com/office/drawing/2014/main" id="{18FACA47-EEB2-0AC5-BC7A-F1838A99DFCF}"/>
              </a:ext>
            </a:extLst>
          </p:cNvPr>
          <p:cNvPicPr>
            <a:picLocks noChangeAspect="1"/>
          </p:cNvPicPr>
          <p:nvPr/>
        </p:nvPicPr>
        <p:blipFill>
          <a:blip r:embed="rId7"/>
          <a:srcRect l="5357" r="31528"/>
          <a:stretch>
            <a:fillRect/>
          </a:stretch>
        </p:blipFill>
        <p:spPr>
          <a:xfrm>
            <a:off x="6420752" y="-1"/>
            <a:ext cx="5771248" cy="6857999"/>
          </a:xfrm>
          <a:prstGeom prst="rect">
            <a:avLst/>
          </a:prstGeom>
        </p:spPr>
      </p:pic>
      <p:sp>
        <p:nvSpPr>
          <p:cNvPr id="6" name="TextBox 5">
            <a:extLst>
              <a:ext uri="{FF2B5EF4-FFF2-40B4-BE49-F238E27FC236}">
                <a16:creationId xmlns:a16="http://schemas.microsoft.com/office/drawing/2014/main" id="{B20E0E4C-0483-B2D7-33F3-95E642C816CC}"/>
              </a:ext>
            </a:extLst>
          </p:cNvPr>
          <p:cNvSpPr txBox="1"/>
          <p:nvPr/>
        </p:nvSpPr>
        <p:spPr>
          <a:xfrm>
            <a:off x="6420752" y="914400"/>
            <a:ext cx="5633596" cy="1200329"/>
          </a:xfrm>
          <a:prstGeom prst="rect">
            <a:avLst/>
          </a:prstGeom>
          <a:noFill/>
        </p:spPr>
        <p:txBody>
          <a:bodyPr wrap="square">
            <a:spAutoFit/>
          </a:bodyPr>
          <a:lstStyle/>
          <a:p>
            <a:pPr marL="0" indent="0" algn="just">
              <a:lnSpc>
                <a:spcPct val="100000"/>
              </a:lnSpc>
              <a:buNone/>
            </a:pPr>
            <a:r>
              <a:rPr lang="en-GB" dirty="0"/>
              <a:t>A clean model ensures that when you drag "Branch Name" and "Total Fines" onto a Power BI canvas, the software immediately calculates the correct numbers without duplicating records or producing errors.</a:t>
            </a:r>
          </a:p>
        </p:txBody>
      </p:sp>
    </p:spTree>
    <p:extLst>
      <p:ext uri="{BB962C8B-B14F-4D97-AF65-F5344CB8AC3E}">
        <p14:creationId xmlns:p14="http://schemas.microsoft.com/office/powerpoint/2010/main" val="3108148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C8E21-C24F-814A-D26C-9F137A0E982C}"/>
              </a:ext>
            </a:extLst>
          </p:cNvPr>
          <p:cNvSpPr>
            <a:spLocks noGrp="1"/>
          </p:cNvSpPr>
          <p:nvPr>
            <p:ph type="title"/>
          </p:nvPr>
        </p:nvSpPr>
        <p:spPr>
          <a:xfrm>
            <a:off x="700635" y="914400"/>
            <a:ext cx="10691265" cy="678426"/>
          </a:xfrm>
        </p:spPr>
        <p:txBody>
          <a:bodyPr>
            <a:normAutofit fontScale="90000"/>
          </a:bodyPr>
          <a:lstStyle/>
          <a:p>
            <a:r>
              <a:rPr lang="en-GB" dirty="0"/>
              <a:t>Fact and dimension tables</a:t>
            </a:r>
          </a:p>
        </p:txBody>
      </p:sp>
      <p:graphicFrame>
        <p:nvGraphicFramePr>
          <p:cNvPr id="4" name="Content Placeholder 3">
            <a:extLst>
              <a:ext uri="{FF2B5EF4-FFF2-40B4-BE49-F238E27FC236}">
                <a16:creationId xmlns:a16="http://schemas.microsoft.com/office/drawing/2014/main" id="{96C0284B-7443-04C3-8471-63658F4AF06D}"/>
              </a:ext>
            </a:extLst>
          </p:cNvPr>
          <p:cNvGraphicFramePr>
            <a:graphicFrameLocks noGrp="1"/>
          </p:cNvGraphicFramePr>
          <p:nvPr>
            <p:ph idx="1"/>
            <p:extLst>
              <p:ext uri="{D42A27DB-BD31-4B8C-83A1-F6EECF244321}">
                <p14:modId xmlns:p14="http://schemas.microsoft.com/office/powerpoint/2010/main" val="825746135"/>
              </p:ext>
            </p:extLst>
          </p:nvPr>
        </p:nvGraphicFramePr>
        <p:xfrm>
          <a:off x="975938" y="1957029"/>
          <a:ext cx="9957534" cy="3571240"/>
        </p:xfrm>
        <a:graphic>
          <a:graphicData uri="http://schemas.openxmlformats.org/drawingml/2006/table">
            <a:tbl>
              <a:tblPr firstRow="1" bandRow="1">
                <a:tableStyleId>{5C22544A-7EE6-4342-B048-85BDC9FD1C3A}</a:tableStyleId>
              </a:tblPr>
              <a:tblGrid>
                <a:gridCol w="2524893">
                  <a:extLst>
                    <a:ext uri="{9D8B030D-6E8A-4147-A177-3AD203B41FA5}">
                      <a16:colId xmlns:a16="http://schemas.microsoft.com/office/drawing/2014/main" val="2531903052"/>
                    </a:ext>
                  </a:extLst>
                </a:gridCol>
                <a:gridCol w="3687096">
                  <a:extLst>
                    <a:ext uri="{9D8B030D-6E8A-4147-A177-3AD203B41FA5}">
                      <a16:colId xmlns:a16="http://schemas.microsoft.com/office/drawing/2014/main" val="1659834478"/>
                    </a:ext>
                  </a:extLst>
                </a:gridCol>
                <a:gridCol w="3745545">
                  <a:extLst>
                    <a:ext uri="{9D8B030D-6E8A-4147-A177-3AD203B41FA5}">
                      <a16:colId xmlns:a16="http://schemas.microsoft.com/office/drawing/2014/main" val="3172137287"/>
                    </a:ext>
                  </a:extLst>
                </a:gridCol>
              </a:tblGrid>
              <a:tr h="370840">
                <a:tc>
                  <a:txBody>
                    <a:bodyPr/>
                    <a:lstStyle/>
                    <a:p>
                      <a:r>
                        <a:rPr lang="en-GB" dirty="0"/>
                        <a:t>Feature</a:t>
                      </a:r>
                    </a:p>
                  </a:txBody>
                  <a:tcPr/>
                </a:tc>
                <a:tc>
                  <a:txBody>
                    <a:bodyPr/>
                    <a:lstStyle/>
                    <a:p>
                      <a:r>
                        <a:rPr lang="en-GB" dirty="0"/>
                        <a:t>Fact Table</a:t>
                      </a:r>
                    </a:p>
                  </a:txBody>
                  <a:tcPr/>
                </a:tc>
                <a:tc>
                  <a:txBody>
                    <a:bodyPr/>
                    <a:lstStyle/>
                    <a:p>
                      <a:r>
                        <a:rPr lang="en-GB" dirty="0"/>
                        <a:t>Dimension Table</a:t>
                      </a:r>
                    </a:p>
                  </a:txBody>
                  <a:tcPr/>
                </a:tc>
                <a:extLst>
                  <a:ext uri="{0D108BD9-81ED-4DB2-BD59-A6C34878D82A}">
                    <a16:rowId xmlns:a16="http://schemas.microsoft.com/office/drawing/2014/main" val="630143180"/>
                  </a:ext>
                </a:extLst>
              </a:tr>
              <a:tr h="370840">
                <a:tc>
                  <a:txBody>
                    <a:bodyPr/>
                    <a:lstStyle/>
                    <a:p>
                      <a:r>
                        <a:rPr lang="en-GB" dirty="0"/>
                        <a:t>Core Purpose</a:t>
                      </a:r>
                    </a:p>
                  </a:txBody>
                  <a:tcPr/>
                </a:tc>
                <a:tc>
                  <a:txBody>
                    <a:bodyPr/>
                    <a:lstStyle/>
                    <a:p>
                      <a:r>
                        <a:rPr lang="en-GB" dirty="0"/>
                        <a:t>Records business events or transactions.</a:t>
                      </a:r>
                    </a:p>
                  </a:txBody>
                  <a:tcPr/>
                </a:tc>
                <a:tc>
                  <a:txBody>
                    <a:bodyPr/>
                    <a:lstStyle/>
                    <a:p>
                      <a:r>
                        <a:rPr lang="en-GB" dirty="0"/>
                        <a:t>Provides descriptive context for the events.</a:t>
                      </a:r>
                    </a:p>
                  </a:txBody>
                  <a:tcPr/>
                </a:tc>
                <a:extLst>
                  <a:ext uri="{0D108BD9-81ED-4DB2-BD59-A6C34878D82A}">
                    <a16:rowId xmlns:a16="http://schemas.microsoft.com/office/drawing/2014/main" val="740009165"/>
                  </a:ext>
                </a:extLst>
              </a:tr>
              <a:tr h="370840">
                <a:tc>
                  <a:txBody>
                    <a:bodyPr/>
                    <a:lstStyle/>
                    <a:p>
                      <a:r>
                        <a:rPr lang="en-GB" dirty="0"/>
                        <a:t>Data Types</a:t>
                      </a:r>
                    </a:p>
                  </a:txBody>
                  <a:tcPr/>
                </a:tc>
                <a:tc>
                  <a:txBody>
                    <a:bodyPr/>
                    <a:lstStyle/>
                    <a:p>
                      <a:r>
                        <a:rPr lang="en-GB" dirty="0"/>
                        <a:t>Primarily numbers, quantitative metrics, and IDs.</a:t>
                      </a:r>
                    </a:p>
                  </a:txBody>
                  <a:tcPr/>
                </a:tc>
                <a:tc>
                  <a:txBody>
                    <a:bodyPr/>
                    <a:lstStyle/>
                    <a:p>
                      <a:r>
                        <a:rPr lang="en-GB" dirty="0"/>
                        <a:t>Primarily text, categories, and descriptive labels.</a:t>
                      </a:r>
                    </a:p>
                  </a:txBody>
                  <a:tcPr/>
                </a:tc>
                <a:extLst>
                  <a:ext uri="{0D108BD9-81ED-4DB2-BD59-A6C34878D82A}">
                    <a16:rowId xmlns:a16="http://schemas.microsoft.com/office/drawing/2014/main" val="2056883496"/>
                  </a:ext>
                </a:extLst>
              </a:tr>
              <a:tr h="370840">
                <a:tc>
                  <a:txBody>
                    <a:bodyPr/>
                    <a:lstStyle/>
                    <a:p>
                      <a:r>
                        <a:rPr lang="en-GB" dirty="0"/>
                        <a:t>Keys Used</a:t>
                      </a:r>
                    </a:p>
                  </a:txBody>
                  <a:tcPr/>
                </a:tc>
                <a:tc>
                  <a:txBody>
                    <a:bodyPr/>
                    <a:lstStyle/>
                    <a:p>
                      <a:r>
                        <a:rPr lang="en-GB" dirty="0"/>
                        <a:t>Contains Foreign Keys linking to dimension tables.</a:t>
                      </a:r>
                    </a:p>
                  </a:txBody>
                  <a:tcPr/>
                </a:tc>
                <a:tc>
                  <a:txBody>
                    <a:bodyPr/>
                    <a:lstStyle/>
                    <a:p>
                      <a:r>
                        <a:rPr lang="en-GB" dirty="0"/>
                        <a:t>Contains a Primary Key (a unique identifier).</a:t>
                      </a:r>
                    </a:p>
                  </a:txBody>
                  <a:tcPr/>
                </a:tc>
                <a:extLst>
                  <a:ext uri="{0D108BD9-81ED-4DB2-BD59-A6C34878D82A}">
                    <a16:rowId xmlns:a16="http://schemas.microsoft.com/office/drawing/2014/main" val="2371653899"/>
                  </a:ext>
                </a:extLst>
              </a:tr>
              <a:tr h="370840">
                <a:tc>
                  <a:txBody>
                    <a:bodyPr/>
                    <a:lstStyle/>
                    <a:p>
                      <a:r>
                        <a:rPr lang="en-GB" dirty="0"/>
                        <a:t>Growth Rate</a:t>
                      </a:r>
                    </a:p>
                  </a:txBody>
                  <a:tcPr/>
                </a:tc>
                <a:tc>
                  <a:txBody>
                    <a:bodyPr/>
                    <a:lstStyle/>
                    <a:p>
                      <a:r>
                        <a:rPr lang="en-GB" dirty="0"/>
                        <a:t>Grows rapidly with daily operations (tall and narrow).</a:t>
                      </a:r>
                    </a:p>
                  </a:txBody>
                  <a:tcPr/>
                </a:tc>
                <a:tc>
                  <a:txBody>
                    <a:bodyPr/>
                    <a:lstStyle/>
                    <a:p>
                      <a:r>
                        <a:rPr lang="en-GB" dirty="0"/>
                        <a:t>Grows slowly and remains relatively stable (short and wide).</a:t>
                      </a:r>
                    </a:p>
                  </a:txBody>
                  <a:tcPr/>
                </a:tc>
                <a:extLst>
                  <a:ext uri="{0D108BD9-81ED-4DB2-BD59-A6C34878D82A}">
                    <a16:rowId xmlns:a16="http://schemas.microsoft.com/office/drawing/2014/main" val="3285974181"/>
                  </a:ext>
                </a:extLst>
              </a:tr>
              <a:tr h="370840">
                <a:tc>
                  <a:txBody>
                    <a:bodyPr/>
                    <a:lstStyle/>
                    <a:p>
                      <a:r>
                        <a:rPr lang="en-GB" dirty="0"/>
                        <a:t>Example</a:t>
                      </a:r>
                    </a:p>
                  </a:txBody>
                  <a:tcPr/>
                </a:tc>
                <a:tc>
                  <a:txBody>
                    <a:bodyPr/>
                    <a:lstStyle/>
                    <a:p>
                      <a:r>
                        <a:rPr lang="en-GB" sz="1800" kern="1200" dirty="0">
                          <a:solidFill>
                            <a:schemeClr val="dk1"/>
                          </a:solidFill>
                          <a:latin typeface="+mn-lt"/>
                          <a:ea typeface="+mn-ea"/>
                          <a:cs typeface="+mn-cs"/>
                        </a:rPr>
                        <a:t>“</a:t>
                      </a:r>
                      <a:r>
                        <a:rPr lang="en-GB" sz="1800" kern="1200" dirty="0" err="1">
                          <a:solidFill>
                            <a:schemeClr val="dk1"/>
                          </a:solidFill>
                          <a:latin typeface="+mn-lt"/>
                          <a:ea typeface="+mn-ea"/>
                          <a:cs typeface="+mn-cs"/>
                        </a:rPr>
                        <a:t>FACT_Circulation</a:t>
                      </a:r>
                      <a:r>
                        <a:rPr lang="en-GB" sz="1800" kern="1200" dirty="0">
                          <a:solidFill>
                            <a:schemeClr val="dk1"/>
                          </a:solidFill>
                          <a:latin typeface="+mn-lt"/>
                          <a:ea typeface="+mn-ea"/>
                          <a:cs typeface="+mn-cs"/>
                        </a:rPr>
                        <a:t>”</a:t>
                      </a:r>
                      <a:r>
                        <a:rPr lang="en-GB" dirty="0"/>
                        <a:t> (Checkout ID, Fine Amount, Renewal Count).</a:t>
                      </a:r>
                    </a:p>
                  </a:txBody>
                  <a:tcPr/>
                </a:tc>
                <a:tc>
                  <a:txBody>
                    <a:bodyPr/>
                    <a:lstStyle/>
                    <a:p>
                      <a:r>
                        <a:rPr lang="en-GB" sz="1800" kern="1200" dirty="0" err="1">
                          <a:solidFill>
                            <a:schemeClr val="dk1"/>
                          </a:solidFill>
                          <a:latin typeface="+mn-lt"/>
                          <a:ea typeface="+mn-ea"/>
                          <a:cs typeface="+mn-cs"/>
                        </a:rPr>
                        <a:t>DIM_Patron</a:t>
                      </a:r>
                      <a:r>
                        <a:rPr lang="en-GB" dirty="0"/>
                        <a:t> (Patron Name, Demographic, Library Card Type).</a:t>
                      </a:r>
                    </a:p>
                  </a:txBody>
                  <a:tcPr/>
                </a:tc>
                <a:extLst>
                  <a:ext uri="{0D108BD9-81ED-4DB2-BD59-A6C34878D82A}">
                    <a16:rowId xmlns:a16="http://schemas.microsoft.com/office/drawing/2014/main" val="2570045906"/>
                  </a:ext>
                </a:extLst>
              </a:tr>
            </a:tbl>
          </a:graphicData>
        </a:graphic>
      </p:graphicFrame>
    </p:spTree>
    <p:extLst>
      <p:ext uri="{BB962C8B-B14F-4D97-AF65-F5344CB8AC3E}">
        <p14:creationId xmlns:p14="http://schemas.microsoft.com/office/powerpoint/2010/main" val="3559653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EAC68F-9382-A7E7-9E5F-D2C9CF9405FD}"/>
              </a:ext>
            </a:extLst>
          </p:cNvPr>
          <p:cNvSpPr>
            <a:spLocks noGrp="1"/>
          </p:cNvSpPr>
          <p:nvPr>
            <p:ph type="title"/>
          </p:nvPr>
        </p:nvSpPr>
        <p:spPr>
          <a:xfrm>
            <a:off x="798576" y="79735"/>
            <a:ext cx="8139112" cy="750170"/>
          </a:xfrm>
        </p:spPr>
        <p:txBody>
          <a:bodyPr>
            <a:normAutofit/>
          </a:bodyPr>
          <a:lstStyle/>
          <a:p>
            <a:pPr>
              <a:lnSpc>
                <a:spcPct val="90000"/>
              </a:lnSpc>
            </a:pPr>
            <a:r>
              <a:rPr lang="en-GB" dirty="0"/>
              <a:t>DOWNSIDE OF USING A FLAT TABLE</a:t>
            </a:r>
          </a:p>
        </p:txBody>
      </p:sp>
      <p:cxnSp>
        <p:nvCxnSpPr>
          <p:cNvPr id="12" name="Straight Connector 11">
            <a:extLst>
              <a:ext uri="{FF2B5EF4-FFF2-40B4-BE49-F238E27FC236}">
                <a16:creationId xmlns:a16="http://schemas.microsoft.com/office/drawing/2014/main" id="{8E813B4C-6731-0B72-5252-A79AB0E20B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2C4ACF2-79A5-57B9-06D0-AFC3FA9FFCCA}"/>
              </a:ext>
            </a:extLst>
          </p:cNvPr>
          <p:cNvSpPr>
            <a:spLocks noGrp="1"/>
          </p:cNvSpPr>
          <p:nvPr>
            <p:ph idx="1"/>
          </p:nvPr>
        </p:nvSpPr>
        <p:spPr>
          <a:xfrm>
            <a:off x="700088" y="1120879"/>
            <a:ext cx="6994366" cy="4841009"/>
          </a:xfrm>
        </p:spPr>
        <p:txBody>
          <a:bodyPr>
            <a:normAutofit/>
          </a:bodyPr>
          <a:lstStyle/>
          <a:p>
            <a:pPr marL="0" indent="0" algn="just">
              <a:lnSpc>
                <a:spcPct val="100000"/>
              </a:lnSpc>
              <a:buNone/>
            </a:pPr>
            <a:endParaRPr lang="en-GB" sz="1800" b="1" dirty="0"/>
          </a:p>
          <a:p>
            <a:pPr marL="0" indent="0" algn="just">
              <a:lnSpc>
                <a:spcPct val="100000"/>
              </a:lnSpc>
              <a:buNone/>
            </a:pPr>
            <a:endParaRPr lang="en-GB" sz="1800" b="1" dirty="0"/>
          </a:p>
          <a:p>
            <a:pPr algn="just">
              <a:lnSpc>
                <a:spcPct val="100000"/>
              </a:lnSpc>
            </a:pPr>
            <a:r>
              <a:rPr lang="en-GB" sz="1800" b="1" dirty="0"/>
              <a:t>Massive Data Duplication (Bloat):</a:t>
            </a:r>
            <a:r>
              <a:rPr lang="en-GB" sz="1800" dirty="0"/>
              <a:t> If a patron checks out 100 books a year, a flat table forces you to repeat their name, email, and demographic information 100 separate times. This redundant text creates unnecessarily large files that drag down performance.</a:t>
            </a:r>
          </a:p>
          <a:p>
            <a:pPr algn="just">
              <a:lnSpc>
                <a:spcPct val="100000"/>
              </a:lnSpc>
            </a:pPr>
            <a:r>
              <a:rPr lang="en-GB" sz="1800" b="1" dirty="0"/>
              <a:t>Update Nightmares (Anomalies):</a:t>
            </a:r>
            <a:r>
              <a:rPr lang="en-GB" sz="1800" dirty="0"/>
              <a:t> If a book's collection type changes from "New Arrivals" to "General Fiction," a flat table requires you to find and update every single historical checkout row for that book.</a:t>
            </a:r>
          </a:p>
          <a:p>
            <a:pPr algn="just">
              <a:lnSpc>
                <a:spcPct val="100000"/>
              </a:lnSpc>
            </a:pPr>
            <a:r>
              <a:rPr lang="en-GB" sz="1800" b="1" dirty="0"/>
              <a:t>Sluggish Filtering:</a:t>
            </a:r>
            <a:r>
              <a:rPr lang="en-GB" sz="1800" dirty="0"/>
              <a:t> Power BI is specifically engineered to filter small, distinct dimension tables quickly, which then pass those filters down to the heavy fact table.</a:t>
            </a:r>
          </a:p>
        </p:txBody>
      </p:sp>
      <p:pic>
        <p:nvPicPr>
          <p:cNvPr id="7" name="Graphic 6" descr="Table">
            <a:extLst>
              <a:ext uri="{FF2B5EF4-FFF2-40B4-BE49-F238E27FC236}">
                <a16:creationId xmlns:a16="http://schemas.microsoft.com/office/drawing/2014/main" id="{6F5F5C77-8ABB-EDAE-C0C3-3AF2E490D65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94454" y="1703152"/>
            <a:ext cx="3903980" cy="3903980"/>
          </a:xfrm>
          <a:prstGeom prst="rect">
            <a:avLst/>
          </a:prstGeom>
        </p:spPr>
      </p:pic>
      <p:cxnSp>
        <p:nvCxnSpPr>
          <p:cNvPr id="14" name="Straight Connector 13">
            <a:extLst>
              <a:ext uri="{FF2B5EF4-FFF2-40B4-BE49-F238E27FC236}">
                <a16:creationId xmlns:a16="http://schemas.microsoft.com/office/drawing/2014/main" id="{6E0E8146-6E65-2E6C-0C86-547E3C9254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9921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258E2-38DB-CAE6-8784-45057EE61B84}"/>
              </a:ext>
            </a:extLst>
          </p:cNvPr>
          <p:cNvSpPr>
            <a:spLocks noGrp="1"/>
          </p:cNvSpPr>
          <p:nvPr>
            <p:ph type="title"/>
          </p:nvPr>
        </p:nvSpPr>
        <p:spPr>
          <a:xfrm>
            <a:off x="700635" y="99700"/>
            <a:ext cx="10429481" cy="686882"/>
          </a:xfrm>
        </p:spPr>
        <p:txBody>
          <a:bodyPr>
            <a:normAutofit fontScale="90000"/>
          </a:bodyPr>
          <a:lstStyle/>
          <a:p>
            <a:r>
              <a:rPr lang="en-GB" dirty="0"/>
              <a:t>Example 1</a:t>
            </a:r>
          </a:p>
        </p:txBody>
      </p:sp>
      <p:pic>
        <p:nvPicPr>
          <p:cNvPr id="4" name="Picture 3" descr="Excel - Creating a Table | PTR">
            <a:extLst>
              <a:ext uri="{FF2B5EF4-FFF2-40B4-BE49-F238E27FC236}">
                <a16:creationId xmlns:a16="http://schemas.microsoft.com/office/drawing/2014/main" id="{EC495C2C-7E49-42CA-B337-E84E6808395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940"/>
          <a:stretch/>
        </p:blipFill>
        <p:spPr bwMode="auto">
          <a:xfrm>
            <a:off x="1385887" y="987703"/>
            <a:ext cx="9420225" cy="48825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93794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9B061-AF0C-D048-1182-1572C37AB0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E29C6E-2D13-48F4-3567-2308934130A7}"/>
              </a:ext>
            </a:extLst>
          </p:cNvPr>
          <p:cNvSpPr>
            <a:spLocks noGrp="1"/>
          </p:cNvSpPr>
          <p:nvPr>
            <p:ph type="title"/>
          </p:nvPr>
        </p:nvSpPr>
        <p:spPr>
          <a:xfrm>
            <a:off x="700635" y="99700"/>
            <a:ext cx="10429481" cy="686882"/>
          </a:xfrm>
        </p:spPr>
        <p:txBody>
          <a:bodyPr>
            <a:normAutofit fontScale="90000"/>
          </a:bodyPr>
          <a:lstStyle/>
          <a:p>
            <a:r>
              <a:rPr lang="en-GB" dirty="0"/>
              <a:t>Example 2</a:t>
            </a:r>
          </a:p>
        </p:txBody>
      </p:sp>
      <p:pic>
        <p:nvPicPr>
          <p:cNvPr id="3" name="Content Placeholder 4">
            <a:extLst>
              <a:ext uri="{FF2B5EF4-FFF2-40B4-BE49-F238E27FC236}">
                <a16:creationId xmlns:a16="http://schemas.microsoft.com/office/drawing/2014/main" id="{073DD35D-C6D0-D8F7-067D-FF5C33AC4F7E}"/>
              </a:ext>
            </a:extLst>
          </p:cNvPr>
          <p:cNvPicPr>
            <a:picLocks noGrp="1" noChangeAspect="1"/>
          </p:cNvPicPr>
          <p:nvPr>
            <p:ph idx="1"/>
          </p:nvPr>
        </p:nvPicPr>
        <p:blipFill rotWithShape="1">
          <a:blip r:embed="rId2"/>
          <a:srcRect l="2209" t="2801" r="1492" b="7182"/>
          <a:stretch/>
        </p:blipFill>
        <p:spPr>
          <a:xfrm>
            <a:off x="2064229" y="838068"/>
            <a:ext cx="7702292" cy="5181863"/>
          </a:xfrm>
          <a:prstGeom prst="rect">
            <a:avLst/>
          </a:prstGeom>
        </p:spPr>
      </p:pic>
    </p:spTree>
    <p:extLst>
      <p:ext uri="{BB962C8B-B14F-4D97-AF65-F5344CB8AC3E}">
        <p14:creationId xmlns:p14="http://schemas.microsoft.com/office/powerpoint/2010/main" val="3688163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586BC-D05D-C676-0F46-D7F9573FE7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E75B84-860E-182D-517C-3D590A07E6A6}"/>
              </a:ext>
            </a:extLst>
          </p:cNvPr>
          <p:cNvSpPr>
            <a:spLocks noGrp="1"/>
          </p:cNvSpPr>
          <p:nvPr>
            <p:ph type="title"/>
          </p:nvPr>
        </p:nvSpPr>
        <p:spPr>
          <a:xfrm>
            <a:off x="700635" y="99700"/>
            <a:ext cx="10429481" cy="686882"/>
          </a:xfrm>
        </p:spPr>
        <p:txBody>
          <a:bodyPr>
            <a:normAutofit fontScale="90000"/>
          </a:bodyPr>
          <a:lstStyle/>
          <a:p>
            <a:r>
              <a:rPr lang="en-GB" dirty="0"/>
              <a:t>Example 3</a:t>
            </a:r>
          </a:p>
        </p:txBody>
      </p:sp>
      <p:pic>
        <p:nvPicPr>
          <p:cNvPr id="7" name="Picture 6">
            <a:extLst>
              <a:ext uri="{FF2B5EF4-FFF2-40B4-BE49-F238E27FC236}">
                <a16:creationId xmlns:a16="http://schemas.microsoft.com/office/drawing/2014/main" id="{A70CA619-3348-3819-7E41-5879ACE4B2E9}"/>
              </a:ext>
            </a:extLst>
          </p:cNvPr>
          <p:cNvPicPr>
            <a:picLocks noChangeAspect="1"/>
          </p:cNvPicPr>
          <p:nvPr/>
        </p:nvPicPr>
        <p:blipFill>
          <a:blip r:embed="rId2"/>
          <a:stretch>
            <a:fillRect/>
          </a:stretch>
        </p:blipFill>
        <p:spPr>
          <a:xfrm>
            <a:off x="2516863" y="912358"/>
            <a:ext cx="6797024" cy="5033283"/>
          </a:xfrm>
          <a:prstGeom prst="rect">
            <a:avLst/>
          </a:prstGeom>
        </p:spPr>
      </p:pic>
    </p:spTree>
    <p:extLst>
      <p:ext uri="{BB962C8B-B14F-4D97-AF65-F5344CB8AC3E}">
        <p14:creationId xmlns:p14="http://schemas.microsoft.com/office/powerpoint/2010/main" val="4083473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7A6C9-7D85-76FC-65B2-61CBAD94C02D}"/>
              </a:ext>
            </a:extLst>
          </p:cNvPr>
          <p:cNvSpPr>
            <a:spLocks noGrp="1"/>
          </p:cNvSpPr>
          <p:nvPr>
            <p:ph type="title"/>
          </p:nvPr>
        </p:nvSpPr>
        <p:spPr>
          <a:xfrm>
            <a:off x="750367" y="0"/>
            <a:ext cx="10691265" cy="743578"/>
          </a:xfrm>
        </p:spPr>
        <p:txBody>
          <a:bodyPr/>
          <a:lstStyle/>
          <a:p>
            <a:r>
              <a:rPr lang="en-GB" dirty="0"/>
              <a:t>Example 4: STAR SCHEMA</a:t>
            </a:r>
          </a:p>
        </p:txBody>
      </p:sp>
      <p:pic>
        <p:nvPicPr>
          <p:cNvPr id="5" name="Content Placeholder 4">
            <a:extLst>
              <a:ext uri="{FF2B5EF4-FFF2-40B4-BE49-F238E27FC236}">
                <a16:creationId xmlns:a16="http://schemas.microsoft.com/office/drawing/2014/main" id="{C4E7B7AF-ACC1-9FF7-F0BE-87FD9A16061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11850" y="819464"/>
            <a:ext cx="9568298" cy="5219072"/>
          </a:xfrm>
          <a:prstGeom prst="rect">
            <a:avLst/>
          </a:prstGeom>
        </p:spPr>
      </p:pic>
    </p:spTree>
    <p:extLst>
      <p:ext uri="{BB962C8B-B14F-4D97-AF65-F5344CB8AC3E}">
        <p14:creationId xmlns:p14="http://schemas.microsoft.com/office/powerpoint/2010/main" val="3082604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99154-FE11-88D1-4C35-41495E8EE6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C54A94-5BA9-DEFC-FCDE-4340C71E7500}"/>
              </a:ext>
            </a:extLst>
          </p:cNvPr>
          <p:cNvSpPr>
            <a:spLocks noGrp="1"/>
          </p:cNvSpPr>
          <p:nvPr>
            <p:ph type="title"/>
          </p:nvPr>
        </p:nvSpPr>
        <p:spPr>
          <a:xfrm>
            <a:off x="700635" y="99700"/>
            <a:ext cx="10429481" cy="686882"/>
          </a:xfrm>
        </p:spPr>
        <p:txBody>
          <a:bodyPr>
            <a:normAutofit fontScale="90000"/>
          </a:bodyPr>
          <a:lstStyle/>
          <a:p>
            <a:r>
              <a:rPr lang="en-GB" dirty="0"/>
              <a:t>Example 4: Snowflake SCHEMA</a:t>
            </a:r>
          </a:p>
        </p:txBody>
      </p:sp>
      <p:pic>
        <p:nvPicPr>
          <p:cNvPr id="6" name="Picture 5">
            <a:extLst>
              <a:ext uri="{FF2B5EF4-FFF2-40B4-BE49-F238E27FC236}">
                <a16:creationId xmlns:a16="http://schemas.microsoft.com/office/drawing/2014/main" id="{C2B2D408-ACE7-51F0-C761-FCD6DF756001}"/>
              </a:ext>
            </a:extLst>
          </p:cNvPr>
          <p:cNvPicPr>
            <a:picLocks noChangeAspect="1"/>
          </p:cNvPicPr>
          <p:nvPr/>
        </p:nvPicPr>
        <p:blipFill>
          <a:blip r:embed="rId2"/>
          <a:stretch>
            <a:fillRect/>
          </a:stretch>
        </p:blipFill>
        <p:spPr>
          <a:xfrm>
            <a:off x="1659737" y="981000"/>
            <a:ext cx="8872526" cy="4896000"/>
          </a:xfrm>
          <a:prstGeom prst="rect">
            <a:avLst/>
          </a:prstGeom>
        </p:spPr>
      </p:pic>
    </p:spTree>
    <p:extLst>
      <p:ext uri="{BB962C8B-B14F-4D97-AF65-F5344CB8AC3E}">
        <p14:creationId xmlns:p14="http://schemas.microsoft.com/office/powerpoint/2010/main" val="20697634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37661-E1E0-2F54-9EBD-3573EAA724C8}"/>
              </a:ext>
            </a:extLst>
          </p:cNvPr>
          <p:cNvSpPr>
            <a:spLocks noGrp="1"/>
          </p:cNvSpPr>
          <p:nvPr>
            <p:ph type="title"/>
          </p:nvPr>
        </p:nvSpPr>
        <p:spPr>
          <a:xfrm>
            <a:off x="700635" y="112342"/>
            <a:ext cx="10691265" cy="651334"/>
          </a:xfrm>
        </p:spPr>
        <p:txBody>
          <a:bodyPr>
            <a:normAutofit fontScale="90000"/>
          </a:bodyPr>
          <a:lstStyle/>
          <a:p>
            <a:r>
              <a:rPr lang="en-GB" dirty="0"/>
              <a:t>normalisation</a:t>
            </a:r>
          </a:p>
        </p:txBody>
      </p:sp>
      <p:sp>
        <p:nvSpPr>
          <p:cNvPr id="3" name="Content Placeholder 2">
            <a:extLst>
              <a:ext uri="{FF2B5EF4-FFF2-40B4-BE49-F238E27FC236}">
                <a16:creationId xmlns:a16="http://schemas.microsoft.com/office/drawing/2014/main" id="{DC80C854-7263-8063-BADC-156466F0318F}"/>
              </a:ext>
            </a:extLst>
          </p:cNvPr>
          <p:cNvSpPr>
            <a:spLocks noGrp="1"/>
          </p:cNvSpPr>
          <p:nvPr>
            <p:ph idx="1"/>
          </p:nvPr>
        </p:nvSpPr>
        <p:spPr>
          <a:xfrm>
            <a:off x="700635" y="994787"/>
            <a:ext cx="10691265" cy="4967101"/>
          </a:xfrm>
        </p:spPr>
        <p:txBody>
          <a:bodyPr/>
          <a:lstStyle/>
          <a:p>
            <a:pPr algn="just"/>
            <a:r>
              <a:rPr lang="en-GB"/>
              <a:t>Normalization is the process of organizing data to minimize redundancy and protect data accuracy by dividing large tables into smaller, related ones.</a:t>
            </a:r>
          </a:p>
          <a:p>
            <a:pPr algn="just"/>
            <a:endParaRPr lang="en-GB" sz="800"/>
          </a:p>
          <a:p>
            <a:pPr lvl="1" algn="just"/>
            <a:r>
              <a:rPr lang="en-GB" b="1"/>
              <a:t>Eliminating Redundant Data:</a:t>
            </a:r>
            <a:r>
              <a:rPr lang="en-GB"/>
              <a:t> Instead of typing "University Faculty" 5,000 times in your main patron list, you store that text exactly once in a separate DIM_PatronType lookup table. You then connect it to the main patron table using a small numerical ID.</a:t>
            </a:r>
          </a:p>
          <a:p>
            <a:pPr lvl="1" algn="just"/>
            <a:endParaRPr lang="en-GB" sz="800"/>
          </a:p>
          <a:p>
            <a:pPr lvl="1" algn="just"/>
            <a:r>
              <a:rPr lang="en-GB" b="1"/>
              <a:t>Protecting Data Integrity:</a:t>
            </a:r>
            <a:r>
              <a:rPr lang="en-GB"/>
              <a:t> If the library needs to update a category name from "Juvenile" to "Young Adult", you only change one single cell in the isolated dimension table. Because of the established relationship links, that update instantly applies to every associated patron across your entire reporting dashboard.</a:t>
            </a:r>
          </a:p>
          <a:p>
            <a:pPr lvl="1" algn="just"/>
            <a:endParaRPr lang="en-GB" dirty="0"/>
          </a:p>
        </p:txBody>
      </p:sp>
    </p:spTree>
    <p:extLst>
      <p:ext uri="{BB962C8B-B14F-4D97-AF65-F5344CB8AC3E}">
        <p14:creationId xmlns:p14="http://schemas.microsoft.com/office/powerpoint/2010/main" val="25741634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822664-D1D0-FA2F-AF8D-F7DE8D9A106D}"/>
              </a:ext>
            </a:extLst>
          </p:cNvPr>
          <p:cNvSpPr>
            <a:spLocks noGrp="1"/>
          </p:cNvSpPr>
          <p:nvPr>
            <p:ph type="title"/>
          </p:nvPr>
        </p:nvSpPr>
        <p:spPr>
          <a:xfrm>
            <a:off x="700088" y="107578"/>
            <a:ext cx="6400800" cy="768437"/>
          </a:xfrm>
        </p:spPr>
        <p:txBody>
          <a:bodyPr>
            <a:normAutofit/>
          </a:bodyPr>
          <a:lstStyle/>
          <a:p>
            <a:r>
              <a:rPr lang="en-GB" dirty="0"/>
              <a:t>NORMAL FORMS</a:t>
            </a:r>
          </a:p>
        </p:txBody>
      </p:sp>
      <p:cxnSp>
        <p:nvCxnSpPr>
          <p:cNvPr id="12" name="Straight Connector 11">
            <a:extLst>
              <a:ext uri="{FF2B5EF4-FFF2-40B4-BE49-F238E27FC236}">
                <a16:creationId xmlns:a16="http://schemas.microsoft.com/office/drawing/2014/main" id="{8E813B4C-6731-0B72-5252-A79AB0E20B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8FE6A62-9E8A-36A3-AF24-B126A169F38C}"/>
              </a:ext>
            </a:extLst>
          </p:cNvPr>
          <p:cNvSpPr>
            <a:spLocks noGrp="1"/>
          </p:cNvSpPr>
          <p:nvPr>
            <p:ph idx="1"/>
          </p:nvPr>
        </p:nvSpPr>
        <p:spPr>
          <a:xfrm>
            <a:off x="700088" y="1015373"/>
            <a:ext cx="7027094" cy="4946515"/>
          </a:xfrm>
        </p:spPr>
        <p:txBody>
          <a:bodyPr>
            <a:normAutofit/>
          </a:bodyPr>
          <a:lstStyle/>
          <a:p>
            <a:pPr marL="0" indent="0" algn="just">
              <a:lnSpc>
                <a:spcPct val="100000"/>
              </a:lnSpc>
              <a:buNone/>
            </a:pPr>
            <a:endParaRPr lang="en-GB" sz="1800" b="1" dirty="0"/>
          </a:p>
          <a:p>
            <a:pPr algn="just">
              <a:lnSpc>
                <a:spcPct val="100000"/>
              </a:lnSpc>
            </a:pPr>
            <a:r>
              <a:rPr lang="en-GB" sz="1800" b="1" dirty="0"/>
              <a:t>First Normal Form (1NF):</a:t>
            </a:r>
            <a:r>
              <a:rPr lang="en-GB" sz="1800" dirty="0"/>
              <a:t> The table holds only single, atomic values in each cell. It eliminates repeating lists of information, and every column must have a unique name.</a:t>
            </a:r>
          </a:p>
          <a:p>
            <a:pPr algn="just">
              <a:lnSpc>
                <a:spcPct val="100000"/>
              </a:lnSpc>
            </a:pPr>
            <a:r>
              <a:rPr lang="en-GB" sz="1800" b="1" dirty="0"/>
              <a:t>Second Normal Form (2NF):</a:t>
            </a:r>
            <a:r>
              <a:rPr lang="en-GB" sz="1800" dirty="0"/>
              <a:t> The table meets 1NF criteria and eliminates partial dependencies. Every non-prime attribute (attributes not part of the primary key) must be fully dependent on the complete primary key. Subsets of data applying to multiple rows are moved to separate tables.</a:t>
            </a:r>
          </a:p>
          <a:p>
            <a:pPr algn="just">
              <a:lnSpc>
                <a:spcPct val="100000"/>
              </a:lnSpc>
            </a:pPr>
            <a:r>
              <a:rPr lang="en-GB" sz="1800" b="1" dirty="0"/>
              <a:t>Third Normal Form (3NF):</a:t>
            </a:r>
            <a:r>
              <a:rPr lang="en-GB" sz="1800" dirty="0"/>
              <a:t> The table meets 2NF criteria and removes transitive dependencies. Columns that do not directly depend on the primary key are isolated into separate tables.</a:t>
            </a:r>
          </a:p>
        </p:txBody>
      </p:sp>
      <p:pic>
        <p:nvPicPr>
          <p:cNvPr id="7" name="Graphic 6" descr="Venn Diagram">
            <a:extLst>
              <a:ext uri="{FF2B5EF4-FFF2-40B4-BE49-F238E27FC236}">
                <a16:creationId xmlns:a16="http://schemas.microsoft.com/office/drawing/2014/main" id="{701A8A0A-10AE-4252-A97C-D8B63E3B0E7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487920" y="1340223"/>
            <a:ext cx="3903980" cy="3903980"/>
          </a:xfrm>
          <a:prstGeom prst="rect">
            <a:avLst/>
          </a:prstGeom>
        </p:spPr>
      </p:pic>
      <p:cxnSp>
        <p:nvCxnSpPr>
          <p:cNvPr id="14" name="Straight Connector 13">
            <a:extLst>
              <a:ext uri="{FF2B5EF4-FFF2-40B4-BE49-F238E27FC236}">
                <a16:creationId xmlns:a16="http://schemas.microsoft.com/office/drawing/2014/main" id="{6E0E8146-6E65-2E6C-0C86-547E3C9254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06524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C1A0EA-A99A-DEF6-3008-7201BFD8E412}"/>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9AE375-57E5-AA1A-CDA8-B64992B8192D}"/>
              </a:ext>
            </a:extLst>
          </p:cNvPr>
          <p:cNvSpPr>
            <a:spLocks noGrp="1"/>
          </p:cNvSpPr>
          <p:nvPr>
            <p:ph type="title"/>
          </p:nvPr>
        </p:nvSpPr>
        <p:spPr>
          <a:xfrm>
            <a:off x="704088" y="914400"/>
            <a:ext cx="3660776" cy="4404064"/>
          </a:xfrm>
        </p:spPr>
        <p:txBody>
          <a:bodyPr>
            <a:normAutofit/>
          </a:bodyPr>
          <a:lstStyle/>
          <a:p>
            <a:r>
              <a:rPr lang="en-GB" sz="3400"/>
              <a:t>Why normalisation?</a:t>
            </a:r>
          </a:p>
        </p:txBody>
      </p:sp>
      <p:cxnSp>
        <p:nvCxnSpPr>
          <p:cNvPr id="26" name="Straight Connector 25">
            <a:extLst>
              <a:ext uri="{FF2B5EF4-FFF2-40B4-BE49-F238E27FC236}">
                <a16:creationId xmlns:a16="http://schemas.microsoft.com/office/drawing/2014/main" id="{B75B4F83-6FDB-4998-8E11-31CE6E7040B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0794B99-5B9D-4B94-9505-1EDED76CD61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27" name="Content Placeholder 2">
            <a:extLst>
              <a:ext uri="{FF2B5EF4-FFF2-40B4-BE49-F238E27FC236}">
                <a16:creationId xmlns:a16="http://schemas.microsoft.com/office/drawing/2014/main" id="{F7861F15-E6FA-6083-1497-5392CAC6885F}"/>
              </a:ext>
            </a:extLst>
          </p:cNvPr>
          <p:cNvGraphicFramePr>
            <a:graphicFrameLocks noGrp="1"/>
          </p:cNvGraphicFramePr>
          <p:nvPr>
            <p:ph idx="1"/>
            <p:extLst>
              <p:ext uri="{D42A27DB-BD31-4B8C-83A1-F6EECF244321}">
                <p14:modId xmlns:p14="http://schemas.microsoft.com/office/powerpoint/2010/main" val="3223260635"/>
              </p:ext>
            </p:extLst>
          </p:nvPr>
        </p:nvGraphicFramePr>
        <p:xfrm>
          <a:off x="4876800" y="1066801"/>
          <a:ext cx="6581776" cy="4724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936400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2F780-4269-7A2C-2A53-EB9A8808B2BE}"/>
              </a:ext>
            </a:extLst>
          </p:cNvPr>
          <p:cNvSpPr>
            <a:spLocks noGrp="1"/>
          </p:cNvSpPr>
          <p:nvPr>
            <p:ph type="title"/>
          </p:nvPr>
        </p:nvSpPr>
        <p:spPr>
          <a:xfrm>
            <a:off x="700635" y="914400"/>
            <a:ext cx="10691265" cy="823965"/>
          </a:xfrm>
        </p:spPr>
        <p:txBody>
          <a:bodyPr/>
          <a:lstStyle/>
          <a:p>
            <a:r>
              <a:rPr lang="en-GB" dirty="0"/>
              <a:t>Example</a:t>
            </a:r>
          </a:p>
        </p:txBody>
      </p:sp>
      <p:graphicFrame>
        <p:nvGraphicFramePr>
          <p:cNvPr id="4" name="Content Placeholder 3">
            <a:extLst>
              <a:ext uri="{FF2B5EF4-FFF2-40B4-BE49-F238E27FC236}">
                <a16:creationId xmlns:a16="http://schemas.microsoft.com/office/drawing/2014/main" id="{3CD7638B-FFF5-4A55-109C-7EC18FC6A88A}"/>
              </a:ext>
            </a:extLst>
          </p:cNvPr>
          <p:cNvGraphicFramePr>
            <a:graphicFrameLocks noGrp="1"/>
          </p:cNvGraphicFramePr>
          <p:nvPr>
            <p:ph idx="1"/>
            <p:extLst>
              <p:ext uri="{D42A27DB-BD31-4B8C-83A1-F6EECF244321}">
                <p14:modId xmlns:p14="http://schemas.microsoft.com/office/powerpoint/2010/main" val="1826325453"/>
              </p:ext>
            </p:extLst>
          </p:nvPr>
        </p:nvGraphicFramePr>
        <p:xfrm>
          <a:off x="316629" y="2325635"/>
          <a:ext cx="7667165" cy="1854200"/>
        </p:xfrm>
        <a:graphic>
          <a:graphicData uri="http://schemas.openxmlformats.org/drawingml/2006/table">
            <a:tbl>
              <a:tblPr firstRow="1" bandRow="1">
                <a:tableStyleId>{5C22544A-7EE6-4342-B048-85BDC9FD1C3A}</a:tableStyleId>
              </a:tblPr>
              <a:tblGrid>
                <a:gridCol w="1610493">
                  <a:extLst>
                    <a:ext uri="{9D8B030D-6E8A-4147-A177-3AD203B41FA5}">
                      <a16:colId xmlns:a16="http://schemas.microsoft.com/office/drawing/2014/main" val="3816756857"/>
                    </a:ext>
                  </a:extLst>
                </a:gridCol>
                <a:gridCol w="2320413">
                  <a:extLst>
                    <a:ext uri="{9D8B030D-6E8A-4147-A177-3AD203B41FA5}">
                      <a16:colId xmlns:a16="http://schemas.microsoft.com/office/drawing/2014/main" val="3995661371"/>
                    </a:ext>
                  </a:extLst>
                </a:gridCol>
                <a:gridCol w="973393">
                  <a:extLst>
                    <a:ext uri="{9D8B030D-6E8A-4147-A177-3AD203B41FA5}">
                      <a16:colId xmlns:a16="http://schemas.microsoft.com/office/drawing/2014/main" val="2206715577"/>
                    </a:ext>
                  </a:extLst>
                </a:gridCol>
                <a:gridCol w="1484671">
                  <a:extLst>
                    <a:ext uri="{9D8B030D-6E8A-4147-A177-3AD203B41FA5}">
                      <a16:colId xmlns:a16="http://schemas.microsoft.com/office/drawing/2014/main" val="3996424492"/>
                    </a:ext>
                  </a:extLst>
                </a:gridCol>
                <a:gridCol w="1278195">
                  <a:extLst>
                    <a:ext uri="{9D8B030D-6E8A-4147-A177-3AD203B41FA5}">
                      <a16:colId xmlns:a16="http://schemas.microsoft.com/office/drawing/2014/main" val="498754903"/>
                    </a:ext>
                  </a:extLst>
                </a:gridCol>
              </a:tblGrid>
              <a:tr h="370840">
                <a:tc>
                  <a:txBody>
                    <a:bodyPr/>
                    <a:lstStyle/>
                    <a:p>
                      <a:r>
                        <a:rPr lang="en-GB" dirty="0"/>
                        <a:t>Accession No</a:t>
                      </a:r>
                    </a:p>
                  </a:txBody>
                  <a:tcPr/>
                </a:tc>
                <a:tc>
                  <a:txBody>
                    <a:bodyPr/>
                    <a:lstStyle/>
                    <a:p>
                      <a:r>
                        <a:rPr lang="en-GB" dirty="0"/>
                        <a:t>Book</a:t>
                      </a:r>
                    </a:p>
                  </a:txBody>
                  <a:tcPr/>
                </a:tc>
                <a:tc>
                  <a:txBody>
                    <a:bodyPr/>
                    <a:lstStyle/>
                    <a:p>
                      <a:r>
                        <a:rPr lang="en-GB" dirty="0"/>
                        <a:t>Branch</a:t>
                      </a:r>
                    </a:p>
                  </a:txBody>
                  <a:tcPr/>
                </a:tc>
                <a:tc>
                  <a:txBody>
                    <a:bodyPr/>
                    <a:lstStyle/>
                    <a:p>
                      <a:r>
                        <a:rPr lang="en-GB" dirty="0"/>
                        <a:t>Librarian</a:t>
                      </a:r>
                    </a:p>
                  </a:txBody>
                  <a:tcPr/>
                </a:tc>
                <a:tc>
                  <a:txBody>
                    <a:bodyPr/>
                    <a:lstStyle/>
                    <a:p>
                      <a:r>
                        <a:rPr lang="en-GB" dirty="0" err="1"/>
                        <a:t>Office_tell</a:t>
                      </a:r>
                      <a:endParaRPr lang="en-GB" dirty="0"/>
                    </a:p>
                  </a:txBody>
                  <a:tcPr/>
                </a:tc>
                <a:extLst>
                  <a:ext uri="{0D108BD9-81ED-4DB2-BD59-A6C34878D82A}">
                    <a16:rowId xmlns:a16="http://schemas.microsoft.com/office/drawing/2014/main" val="2920081341"/>
                  </a:ext>
                </a:extLst>
              </a:tr>
              <a:tr h="370840">
                <a:tc>
                  <a:txBody>
                    <a:bodyPr/>
                    <a:lstStyle/>
                    <a:p>
                      <a:r>
                        <a:rPr lang="en-GB" dirty="0"/>
                        <a:t>172344</a:t>
                      </a:r>
                    </a:p>
                  </a:txBody>
                  <a:tcPr/>
                </a:tc>
                <a:tc>
                  <a:txBody>
                    <a:bodyPr/>
                    <a:lstStyle/>
                    <a:p>
                      <a:r>
                        <a:rPr lang="en-GB" dirty="0"/>
                        <a:t>Peoples and Culture</a:t>
                      </a:r>
                    </a:p>
                  </a:txBody>
                  <a:tcPr/>
                </a:tc>
                <a:tc>
                  <a:txBody>
                    <a:bodyPr/>
                    <a:lstStyle/>
                    <a:p>
                      <a:r>
                        <a:rPr lang="en-GB" dirty="0"/>
                        <a:t>Leeds</a:t>
                      </a:r>
                    </a:p>
                  </a:txBody>
                  <a:tcPr/>
                </a:tc>
                <a:tc>
                  <a:txBody>
                    <a:bodyPr/>
                    <a:lstStyle/>
                    <a:p>
                      <a:r>
                        <a:rPr lang="en-GB" strike="sngStrike" dirty="0"/>
                        <a:t>Mr. A  </a:t>
                      </a:r>
                      <a:r>
                        <a:rPr lang="en-GB" dirty="0"/>
                        <a:t>Mr. B</a:t>
                      </a:r>
                    </a:p>
                  </a:txBody>
                  <a:tcPr/>
                </a:tc>
                <a:tc>
                  <a:txBody>
                    <a:bodyPr/>
                    <a:lstStyle/>
                    <a:p>
                      <a:r>
                        <a:rPr lang="en-GB" dirty="0"/>
                        <a:t>087545625</a:t>
                      </a:r>
                    </a:p>
                  </a:txBody>
                  <a:tcPr/>
                </a:tc>
                <a:extLst>
                  <a:ext uri="{0D108BD9-81ED-4DB2-BD59-A6C34878D82A}">
                    <a16:rowId xmlns:a16="http://schemas.microsoft.com/office/drawing/2014/main" val="493337349"/>
                  </a:ext>
                </a:extLst>
              </a:tr>
              <a:tr h="370840">
                <a:tc>
                  <a:txBody>
                    <a:bodyPr/>
                    <a:lstStyle/>
                    <a:p>
                      <a:r>
                        <a:rPr lang="en-GB" dirty="0"/>
                        <a:t>170233</a:t>
                      </a:r>
                    </a:p>
                  </a:txBody>
                  <a:tcPr/>
                </a:tc>
                <a:tc>
                  <a:txBody>
                    <a:bodyPr/>
                    <a:lstStyle/>
                    <a:p>
                      <a:r>
                        <a:rPr lang="en-GB" dirty="0"/>
                        <a:t>History of Human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Leeds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trike="sngStrike" dirty="0"/>
                        <a:t>Mr. A  </a:t>
                      </a:r>
                      <a:r>
                        <a:rPr lang="en-GB" dirty="0"/>
                        <a:t>Mr. B</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087545625</a:t>
                      </a:r>
                    </a:p>
                  </a:txBody>
                  <a:tcPr/>
                </a:tc>
                <a:extLst>
                  <a:ext uri="{0D108BD9-81ED-4DB2-BD59-A6C34878D82A}">
                    <a16:rowId xmlns:a16="http://schemas.microsoft.com/office/drawing/2014/main" val="46535993"/>
                  </a:ext>
                </a:extLst>
              </a:tr>
              <a:tr h="370840">
                <a:tc>
                  <a:txBody>
                    <a:bodyPr/>
                    <a:lstStyle/>
                    <a:p>
                      <a:r>
                        <a:rPr lang="en-GB" dirty="0"/>
                        <a:t>178964</a:t>
                      </a:r>
                    </a:p>
                  </a:txBody>
                  <a:tcPr/>
                </a:tc>
                <a:tc>
                  <a:txBody>
                    <a:bodyPr/>
                    <a:lstStyle/>
                    <a:p>
                      <a:r>
                        <a:rPr lang="en-GB" dirty="0"/>
                        <a:t>Plant Anatomy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Leeds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Mr. 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087545625</a:t>
                      </a:r>
                    </a:p>
                  </a:txBody>
                  <a:tcPr/>
                </a:tc>
                <a:extLst>
                  <a:ext uri="{0D108BD9-81ED-4DB2-BD59-A6C34878D82A}">
                    <a16:rowId xmlns:a16="http://schemas.microsoft.com/office/drawing/2014/main" val="2981793541"/>
                  </a:ext>
                </a:extLst>
              </a:tr>
              <a:tr h="370840">
                <a:tc>
                  <a:txBody>
                    <a:bodyPr/>
                    <a:lstStyle/>
                    <a:p>
                      <a:r>
                        <a:rPr lang="en-GB" dirty="0"/>
                        <a:t>173564</a:t>
                      </a:r>
                    </a:p>
                  </a:txBody>
                  <a:tcPr/>
                </a:tc>
                <a:tc>
                  <a:txBody>
                    <a:bodyPr/>
                    <a:lstStyle/>
                    <a:p>
                      <a:r>
                        <a:rPr lang="en-GB" dirty="0"/>
                        <a:t>Financial Accounting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Leeds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trike="sngStrike" dirty="0"/>
                        <a:t>Mr. A  </a:t>
                      </a:r>
                      <a:r>
                        <a:rPr lang="en-GB" dirty="0"/>
                        <a:t>Mr. B</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087545625</a:t>
                      </a:r>
                    </a:p>
                  </a:txBody>
                  <a:tcPr/>
                </a:tc>
                <a:extLst>
                  <a:ext uri="{0D108BD9-81ED-4DB2-BD59-A6C34878D82A}">
                    <a16:rowId xmlns:a16="http://schemas.microsoft.com/office/drawing/2014/main" val="3488141627"/>
                  </a:ext>
                </a:extLst>
              </a:tr>
            </a:tbl>
          </a:graphicData>
        </a:graphic>
      </p:graphicFrame>
      <p:sp>
        <p:nvSpPr>
          <p:cNvPr id="6" name="TextBox 5">
            <a:extLst>
              <a:ext uri="{FF2B5EF4-FFF2-40B4-BE49-F238E27FC236}">
                <a16:creationId xmlns:a16="http://schemas.microsoft.com/office/drawing/2014/main" id="{3F03D12C-BF58-0D93-41BB-A65AD98AB942}"/>
              </a:ext>
            </a:extLst>
          </p:cNvPr>
          <p:cNvSpPr txBox="1"/>
          <p:nvPr/>
        </p:nvSpPr>
        <p:spPr>
          <a:xfrm>
            <a:off x="2782530" y="1869329"/>
            <a:ext cx="3028335" cy="400110"/>
          </a:xfrm>
          <a:prstGeom prst="rect">
            <a:avLst/>
          </a:prstGeom>
          <a:noFill/>
        </p:spPr>
        <p:txBody>
          <a:bodyPr wrap="square">
            <a:spAutoFit/>
          </a:bodyPr>
          <a:lstStyle/>
          <a:p>
            <a:pPr lvl="0"/>
            <a:r>
              <a:rPr lang="en-GB" sz="2000" b="1" dirty="0"/>
              <a:t>BOOK REGISTER</a:t>
            </a:r>
          </a:p>
        </p:txBody>
      </p:sp>
      <p:sp>
        <p:nvSpPr>
          <p:cNvPr id="7" name="Content Placeholder 2">
            <a:extLst>
              <a:ext uri="{FF2B5EF4-FFF2-40B4-BE49-F238E27FC236}">
                <a16:creationId xmlns:a16="http://schemas.microsoft.com/office/drawing/2014/main" id="{1B766437-EBB2-11AB-D11B-21B5756EC8C7}"/>
              </a:ext>
            </a:extLst>
          </p:cNvPr>
          <p:cNvSpPr txBox="1">
            <a:spLocks/>
          </p:cNvSpPr>
          <p:nvPr/>
        </p:nvSpPr>
        <p:spPr>
          <a:xfrm>
            <a:off x="7886214" y="1332000"/>
            <a:ext cx="3951291" cy="489600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400" b="1" dirty="0"/>
              <a:t>Insertion </a:t>
            </a:r>
            <a:r>
              <a:rPr lang="en-GB" sz="2400" dirty="0"/>
              <a:t>problem adding another book – repeat the data again</a:t>
            </a:r>
          </a:p>
          <a:p>
            <a:r>
              <a:rPr lang="en-GB" sz="2400" b="1" dirty="0"/>
              <a:t>Deletion</a:t>
            </a:r>
            <a:r>
              <a:rPr lang="en-GB" sz="2400" dirty="0"/>
              <a:t> problem – the branch information is gone</a:t>
            </a:r>
          </a:p>
          <a:p>
            <a:r>
              <a:rPr lang="en-GB" sz="2400" b="1" dirty="0"/>
              <a:t>Modification</a:t>
            </a:r>
            <a:r>
              <a:rPr lang="en-GB" sz="2400" dirty="0"/>
              <a:t> problem– you must change all the book records </a:t>
            </a:r>
          </a:p>
        </p:txBody>
      </p:sp>
    </p:spTree>
    <p:extLst>
      <p:ext uri="{BB962C8B-B14F-4D97-AF65-F5344CB8AC3E}">
        <p14:creationId xmlns:p14="http://schemas.microsoft.com/office/powerpoint/2010/main" val="2168259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3B7C7-7502-ECD3-3EDE-C95C014A56B8}"/>
              </a:ext>
            </a:extLst>
          </p:cNvPr>
          <p:cNvSpPr>
            <a:spLocks noGrp="1"/>
          </p:cNvSpPr>
          <p:nvPr>
            <p:ph type="title"/>
          </p:nvPr>
        </p:nvSpPr>
        <p:spPr>
          <a:xfrm>
            <a:off x="750367" y="139028"/>
            <a:ext cx="10691265" cy="757084"/>
          </a:xfrm>
        </p:spPr>
        <p:txBody>
          <a:bodyPr/>
          <a:lstStyle/>
          <a:p>
            <a:r>
              <a:rPr lang="en-GB" dirty="0"/>
              <a:t>Solve with Normalisation</a:t>
            </a:r>
          </a:p>
        </p:txBody>
      </p:sp>
      <p:graphicFrame>
        <p:nvGraphicFramePr>
          <p:cNvPr id="5" name="Content Placeholder 3">
            <a:extLst>
              <a:ext uri="{FF2B5EF4-FFF2-40B4-BE49-F238E27FC236}">
                <a16:creationId xmlns:a16="http://schemas.microsoft.com/office/drawing/2014/main" id="{2A1C5888-BA75-895E-26E5-AC9C1857B4D3}"/>
              </a:ext>
            </a:extLst>
          </p:cNvPr>
          <p:cNvGraphicFramePr>
            <a:graphicFrameLocks noGrp="1"/>
          </p:cNvGraphicFramePr>
          <p:nvPr>
            <p:ph idx="1"/>
            <p:extLst>
              <p:ext uri="{D42A27DB-BD31-4B8C-83A1-F6EECF244321}">
                <p14:modId xmlns:p14="http://schemas.microsoft.com/office/powerpoint/2010/main" val="518045529"/>
              </p:ext>
            </p:extLst>
          </p:nvPr>
        </p:nvGraphicFramePr>
        <p:xfrm>
          <a:off x="2262416" y="1263752"/>
          <a:ext cx="7667165" cy="1854200"/>
        </p:xfrm>
        <a:graphic>
          <a:graphicData uri="http://schemas.openxmlformats.org/drawingml/2006/table">
            <a:tbl>
              <a:tblPr firstRow="1" bandRow="1">
                <a:tableStyleId>{5C22544A-7EE6-4342-B048-85BDC9FD1C3A}</a:tableStyleId>
              </a:tblPr>
              <a:tblGrid>
                <a:gridCol w="1610493">
                  <a:extLst>
                    <a:ext uri="{9D8B030D-6E8A-4147-A177-3AD203B41FA5}">
                      <a16:colId xmlns:a16="http://schemas.microsoft.com/office/drawing/2014/main" val="3816756857"/>
                    </a:ext>
                  </a:extLst>
                </a:gridCol>
                <a:gridCol w="2320413">
                  <a:extLst>
                    <a:ext uri="{9D8B030D-6E8A-4147-A177-3AD203B41FA5}">
                      <a16:colId xmlns:a16="http://schemas.microsoft.com/office/drawing/2014/main" val="3995661371"/>
                    </a:ext>
                  </a:extLst>
                </a:gridCol>
                <a:gridCol w="973393">
                  <a:extLst>
                    <a:ext uri="{9D8B030D-6E8A-4147-A177-3AD203B41FA5}">
                      <a16:colId xmlns:a16="http://schemas.microsoft.com/office/drawing/2014/main" val="2206715577"/>
                    </a:ext>
                  </a:extLst>
                </a:gridCol>
                <a:gridCol w="1484671">
                  <a:extLst>
                    <a:ext uri="{9D8B030D-6E8A-4147-A177-3AD203B41FA5}">
                      <a16:colId xmlns:a16="http://schemas.microsoft.com/office/drawing/2014/main" val="3996424492"/>
                    </a:ext>
                  </a:extLst>
                </a:gridCol>
                <a:gridCol w="1278195">
                  <a:extLst>
                    <a:ext uri="{9D8B030D-6E8A-4147-A177-3AD203B41FA5}">
                      <a16:colId xmlns:a16="http://schemas.microsoft.com/office/drawing/2014/main" val="498754903"/>
                    </a:ext>
                  </a:extLst>
                </a:gridCol>
              </a:tblGrid>
              <a:tr h="370840">
                <a:tc>
                  <a:txBody>
                    <a:bodyPr/>
                    <a:lstStyle/>
                    <a:p>
                      <a:r>
                        <a:rPr lang="en-GB" dirty="0"/>
                        <a:t>Accession No</a:t>
                      </a:r>
                    </a:p>
                  </a:txBody>
                  <a:tcPr/>
                </a:tc>
                <a:tc>
                  <a:txBody>
                    <a:bodyPr/>
                    <a:lstStyle/>
                    <a:p>
                      <a:r>
                        <a:rPr lang="en-GB" dirty="0"/>
                        <a:t>Book</a:t>
                      </a:r>
                    </a:p>
                  </a:txBody>
                  <a:tcPr/>
                </a:tc>
                <a:tc>
                  <a:txBody>
                    <a:bodyPr/>
                    <a:lstStyle/>
                    <a:p>
                      <a:r>
                        <a:rPr lang="en-GB" dirty="0"/>
                        <a:t>Branch</a:t>
                      </a:r>
                    </a:p>
                  </a:txBody>
                  <a:tcPr/>
                </a:tc>
                <a:tc>
                  <a:txBody>
                    <a:bodyPr/>
                    <a:lstStyle/>
                    <a:p>
                      <a:r>
                        <a:rPr lang="en-GB" dirty="0"/>
                        <a:t>Librarian</a:t>
                      </a:r>
                    </a:p>
                  </a:txBody>
                  <a:tcPr/>
                </a:tc>
                <a:tc>
                  <a:txBody>
                    <a:bodyPr/>
                    <a:lstStyle/>
                    <a:p>
                      <a:r>
                        <a:rPr lang="en-GB" dirty="0" err="1"/>
                        <a:t>Office_tell</a:t>
                      </a:r>
                      <a:endParaRPr lang="en-GB" dirty="0"/>
                    </a:p>
                  </a:txBody>
                  <a:tcPr/>
                </a:tc>
                <a:extLst>
                  <a:ext uri="{0D108BD9-81ED-4DB2-BD59-A6C34878D82A}">
                    <a16:rowId xmlns:a16="http://schemas.microsoft.com/office/drawing/2014/main" val="2920081341"/>
                  </a:ext>
                </a:extLst>
              </a:tr>
              <a:tr h="370840">
                <a:tc>
                  <a:txBody>
                    <a:bodyPr/>
                    <a:lstStyle/>
                    <a:p>
                      <a:r>
                        <a:rPr lang="en-GB" dirty="0"/>
                        <a:t>172344</a:t>
                      </a:r>
                    </a:p>
                  </a:txBody>
                  <a:tcPr/>
                </a:tc>
                <a:tc>
                  <a:txBody>
                    <a:bodyPr/>
                    <a:lstStyle/>
                    <a:p>
                      <a:r>
                        <a:rPr lang="en-GB" dirty="0"/>
                        <a:t>Peoples and Culture</a:t>
                      </a:r>
                    </a:p>
                  </a:txBody>
                  <a:tcPr/>
                </a:tc>
                <a:tc>
                  <a:txBody>
                    <a:bodyPr/>
                    <a:lstStyle/>
                    <a:p>
                      <a:r>
                        <a:rPr lang="en-GB" dirty="0"/>
                        <a:t>Leeds</a:t>
                      </a:r>
                    </a:p>
                  </a:txBody>
                  <a:tcPr/>
                </a:tc>
                <a:tc>
                  <a:txBody>
                    <a:bodyPr/>
                    <a:lstStyle/>
                    <a:p>
                      <a:r>
                        <a:rPr lang="en-GB" strike="sngStrike" dirty="0"/>
                        <a:t>Mr. A  </a:t>
                      </a:r>
                      <a:r>
                        <a:rPr lang="en-GB" dirty="0"/>
                        <a:t>Mr. B</a:t>
                      </a:r>
                    </a:p>
                  </a:txBody>
                  <a:tcPr/>
                </a:tc>
                <a:tc>
                  <a:txBody>
                    <a:bodyPr/>
                    <a:lstStyle/>
                    <a:p>
                      <a:r>
                        <a:rPr lang="en-GB" dirty="0"/>
                        <a:t>087545625</a:t>
                      </a:r>
                    </a:p>
                  </a:txBody>
                  <a:tcPr/>
                </a:tc>
                <a:extLst>
                  <a:ext uri="{0D108BD9-81ED-4DB2-BD59-A6C34878D82A}">
                    <a16:rowId xmlns:a16="http://schemas.microsoft.com/office/drawing/2014/main" val="493337349"/>
                  </a:ext>
                </a:extLst>
              </a:tr>
              <a:tr h="370840">
                <a:tc>
                  <a:txBody>
                    <a:bodyPr/>
                    <a:lstStyle/>
                    <a:p>
                      <a:r>
                        <a:rPr lang="en-GB" dirty="0"/>
                        <a:t>170233</a:t>
                      </a:r>
                    </a:p>
                  </a:txBody>
                  <a:tcPr/>
                </a:tc>
                <a:tc>
                  <a:txBody>
                    <a:bodyPr/>
                    <a:lstStyle/>
                    <a:p>
                      <a:r>
                        <a:rPr lang="en-GB" dirty="0"/>
                        <a:t>History of Human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Leeds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trike="sngStrike" dirty="0"/>
                        <a:t>Mr. A  </a:t>
                      </a:r>
                      <a:r>
                        <a:rPr lang="en-GB" dirty="0"/>
                        <a:t>Mr. B</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087545625</a:t>
                      </a:r>
                    </a:p>
                  </a:txBody>
                  <a:tcPr/>
                </a:tc>
                <a:extLst>
                  <a:ext uri="{0D108BD9-81ED-4DB2-BD59-A6C34878D82A}">
                    <a16:rowId xmlns:a16="http://schemas.microsoft.com/office/drawing/2014/main" val="46535993"/>
                  </a:ext>
                </a:extLst>
              </a:tr>
              <a:tr h="370840">
                <a:tc>
                  <a:txBody>
                    <a:bodyPr/>
                    <a:lstStyle/>
                    <a:p>
                      <a:r>
                        <a:rPr lang="en-GB" dirty="0"/>
                        <a:t>178964</a:t>
                      </a:r>
                    </a:p>
                  </a:txBody>
                  <a:tcPr/>
                </a:tc>
                <a:tc>
                  <a:txBody>
                    <a:bodyPr/>
                    <a:lstStyle/>
                    <a:p>
                      <a:r>
                        <a:rPr lang="en-GB" dirty="0"/>
                        <a:t>Plant Anatomy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Leeds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Mr. 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087545625</a:t>
                      </a:r>
                    </a:p>
                  </a:txBody>
                  <a:tcPr/>
                </a:tc>
                <a:extLst>
                  <a:ext uri="{0D108BD9-81ED-4DB2-BD59-A6C34878D82A}">
                    <a16:rowId xmlns:a16="http://schemas.microsoft.com/office/drawing/2014/main" val="2981793541"/>
                  </a:ext>
                </a:extLst>
              </a:tr>
              <a:tr h="370840">
                <a:tc>
                  <a:txBody>
                    <a:bodyPr/>
                    <a:lstStyle/>
                    <a:p>
                      <a:r>
                        <a:rPr lang="en-GB" dirty="0"/>
                        <a:t>173564</a:t>
                      </a:r>
                    </a:p>
                  </a:txBody>
                  <a:tcPr/>
                </a:tc>
                <a:tc>
                  <a:txBody>
                    <a:bodyPr/>
                    <a:lstStyle/>
                    <a:p>
                      <a:r>
                        <a:rPr lang="en-GB" dirty="0"/>
                        <a:t>Financial Accounting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Leeds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trike="sngStrike" dirty="0"/>
                        <a:t>Mr. A  </a:t>
                      </a:r>
                      <a:r>
                        <a:rPr lang="en-GB" dirty="0"/>
                        <a:t>Mr. B</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087545625</a:t>
                      </a:r>
                    </a:p>
                  </a:txBody>
                  <a:tcPr/>
                </a:tc>
                <a:extLst>
                  <a:ext uri="{0D108BD9-81ED-4DB2-BD59-A6C34878D82A}">
                    <a16:rowId xmlns:a16="http://schemas.microsoft.com/office/drawing/2014/main" val="3488141627"/>
                  </a:ext>
                </a:extLst>
              </a:tr>
            </a:tbl>
          </a:graphicData>
        </a:graphic>
      </p:graphicFrame>
      <p:graphicFrame>
        <p:nvGraphicFramePr>
          <p:cNvPr id="6" name="Table 5">
            <a:extLst>
              <a:ext uri="{FF2B5EF4-FFF2-40B4-BE49-F238E27FC236}">
                <a16:creationId xmlns:a16="http://schemas.microsoft.com/office/drawing/2014/main" id="{E810C991-4B3C-8090-CC29-2FE5F8CCF045}"/>
              </a:ext>
            </a:extLst>
          </p:cNvPr>
          <p:cNvGraphicFramePr>
            <a:graphicFrameLocks noGrp="1"/>
          </p:cNvGraphicFramePr>
          <p:nvPr>
            <p:extLst>
              <p:ext uri="{D42A27DB-BD31-4B8C-83A1-F6EECF244321}">
                <p14:modId xmlns:p14="http://schemas.microsoft.com/office/powerpoint/2010/main" val="2429398920"/>
              </p:ext>
            </p:extLst>
          </p:nvPr>
        </p:nvGraphicFramePr>
        <p:xfrm>
          <a:off x="566994" y="4165872"/>
          <a:ext cx="5116051" cy="1854200"/>
        </p:xfrm>
        <a:graphic>
          <a:graphicData uri="http://schemas.openxmlformats.org/drawingml/2006/table">
            <a:tbl>
              <a:tblPr firstRow="1" bandRow="1">
                <a:tableStyleId>{5C22544A-7EE6-4342-B048-85BDC9FD1C3A}</a:tableStyleId>
              </a:tblPr>
              <a:tblGrid>
                <a:gridCol w="1580808">
                  <a:extLst>
                    <a:ext uri="{9D8B030D-6E8A-4147-A177-3AD203B41FA5}">
                      <a16:colId xmlns:a16="http://schemas.microsoft.com/office/drawing/2014/main" val="1796028226"/>
                    </a:ext>
                  </a:extLst>
                </a:gridCol>
                <a:gridCol w="2591346">
                  <a:extLst>
                    <a:ext uri="{9D8B030D-6E8A-4147-A177-3AD203B41FA5}">
                      <a16:colId xmlns:a16="http://schemas.microsoft.com/office/drawing/2014/main" val="966510708"/>
                    </a:ext>
                  </a:extLst>
                </a:gridCol>
                <a:gridCol w="943897">
                  <a:extLst>
                    <a:ext uri="{9D8B030D-6E8A-4147-A177-3AD203B41FA5}">
                      <a16:colId xmlns:a16="http://schemas.microsoft.com/office/drawing/2014/main" val="750846999"/>
                    </a:ext>
                  </a:extLst>
                </a:gridCol>
              </a:tblGrid>
              <a:tr h="370840">
                <a:tc>
                  <a:txBody>
                    <a:bodyPr/>
                    <a:lstStyle/>
                    <a:p>
                      <a:r>
                        <a:rPr lang="en-GB" dirty="0"/>
                        <a:t>Accession No</a:t>
                      </a:r>
                    </a:p>
                  </a:txBody>
                  <a:tcPr/>
                </a:tc>
                <a:tc>
                  <a:txBody>
                    <a:bodyPr/>
                    <a:lstStyle/>
                    <a:p>
                      <a:r>
                        <a:rPr lang="en-GB" dirty="0"/>
                        <a:t>Book</a:t>
                      </a:r>
                    </a:p>
                  </a:txBody>
                  <a:tcPr/>
                </a:tc>
                <a:tc>
                  <a:txBody>
                    <a:bodyPr/>
                    <a:lstStyle/>
                    <a:p>
                      <a:r>
                        <a:rPr lang="en-GB" dirty="0"/>
                        <a:t>Branch</a:t>
                      </a:r>
                    </a:p>
                  </a:txBody>
                  <a:tcPr/>
                </a:tc>
                <a:extLst>
                  <a:ext uri="{0D108BD9-81ED-4DB2-BD59-A6C34878D82A}">
                    <a16:rowId xmlns:a16="http://schemas.microsoft.com/office/drawing/2014/main" val="1478598109"/>
                  </a:ext>
                </a:extLst>
              </a:tr>
              <a:tr h="370840">
                <a:tc>
                  <a:txBody>
                    <a:bodyPr/>
                    <a:lstStyle/>
                    <a:p>
                      <a:r>
                        <a:rPr lang="en-GB" dirty="0"/>
                        <a:t>172344</a:t>
                      </a:r>
                    </a:p>
                  </a:txBody>
                  <a:tcPr/>
                </a:tc>
                <a:tc>
                  <a:txBody>
                    <a:bodyPr/>
                    <a:lstStyle/>
                    <a:p>
                      <a:r>
                        <a:rPr lang="en-GB" dirty="0"/>
                        <a:t>Peoples and Culture</a:t>
                      </a:r>
                    </a:p>
                  </a:txBody>
                  <a:tcPr/>
                </a:tc>
                <a:tc>
                  <a:txBody>
                    <a:bodyPr/>
                    <a:lstStyle/>
                    <a:p>
                      <a:r>
                        <a:rPr lang="en-GB" dirty="0"/>
                        <a:t>Leeds</a:t>
                      </a:r>
                    </a:p>
                  </a:txBody>
                  <a:tcPr/>
                </a:tc>
                <a:extLst>
                  <a:ext uri="{0D108BD9-81ED-4DB2-BD59-A6C34878D82A}">
                    <a16:rowId xmlns:a16="http://schemas.microsoft.com/office/drawing/2014/main" val="344655533"/>
                  </a:ext>
                </a:extLst>
              </a:tr>
              <a:tr h="370840">
                <a:tc>
                  <a:txBody>
                    <a:bodyPr/>
                    <a:lstStyle/>
                    <a:p>
                      <a:r>
                        <a:rPr lang="en-GB" dirty="0"/>
                        <a:t>170233</a:t>
                      </a:r>
                    </a:p>
                  </a:txBody>
                  <a:tcPr/>
                </a:tc>
                <a:tc>
                  <a:txBody>
                    <a:bodyPr/>
                    <a:lstStyle/>
                    <a:p>
                      <a:r>
                        <a:rPr lang="en-GB" dirty="0"/>
                        <a:t>History of Human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Leeds</a:t>
                      </a:r>
                    </a:p>
                  </a:txBody>
                  <a:tcPr/>
                </a:tc>
                <a:extLst>
                  <a:ext uri="{0D108BD9-81ED-4DB2-BD59-A6C34878D82A}">
                    <a16:rowId xmlns:a16="http://schemas.microsoft.com/office/drawing/2014/main" val="1819609539"/>
                  </a:ext>
                </a:extLst>
              </a:tr>
              <a:tr h="370840">
                <a:tc>
                  <a:txBody>
                    <a:bodyPr/>
                    <a:lstStyle/>
                    <a:p>
                      <a:r>
                        <a:rPr lang="en-GB" dirty="0"/>
                        <a:t>178964</a:t>
                      </a:r>
                    </a:p>
                  </a:txBody>
                  <a:tcPr/>
                </a:tc>
                <a:tc>
                  <a:txBody>
                    <a:bodyPr/>
                    <a:lstStyle/>
                    <a:p>
                      <a:r>
                        <a:rPr lang="en-GB" dirty="0"/>
                        <a:t>Plant Anatomy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Leeds</a:t>
                      </a:r>
                    </a:p>
                  </a:txBody>
                  <a:tcPr/>
                </a:tc>
                <a:extLst>
                  <a:ext uri="{0D108BD9-81ED-4DB2-BD59-A6C34878D82A}">
                    <a16:rowId xmlns:a16="http://schemas.microsoft.com/office/drawing/2014/main" val="1227074297"/>
                  </a:ext>
                </a:extLst>
              </a:tr>
              <a:tr h="370840">
                <a:tc>
                  <a:txBody>
                    <a:bodyPr/>
                    <a:lstStyle/>
                    <a:p>
                      <a:r>
                        <a:rPr lang="en-GB" dirty="0"/>
                        <a:t>173564</a:t>
                      </a:r>
                    </a:p>
                  </a:txBody>
                  <a:tcPr/>
                </a:tc>
                <a:tc>
                  <a:txBody>
                    <a:bodyPr/>
                    <a:lstStyle/>
                    <a:p>
                      <a:r>
                        <a:rPr lang="en-GB" dirty="0"/>
                        <a:t>Financial Accounting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Leeds</a:t>
                      </a:r>
                    </a:p>
                  </a:txBody>
                  <a:tcPr/>
                </a:tc>
                <a:extLst>
                  <a:ext uri="{0D108BD9-81ED-4DB2-BD59-A6C34878D82A}">
                    <a16:rowId xmlns:a16="http://schemas.microsoft.com/office/drawing/2014/main" val="3279953619"/>
                  </a:ext>
                </a:extLst>
              </a:tr>
            </a:tbl>
          </a:graphicData>
        </a:graphic>
      </p:graphicFrame>
      <p:graphicFrame>
        <p:nvGraphicFramePr>
          <p:cNvPr id="8" name="Table 7">
            <a:extLst>
              <a:ext uri="{FF2B5EF4-FFF2-40B4-BE49-F238E27FC236}">
                <a16:creationId xmlns:a16="http://schemas.microsoft.com/office/drawing/2014/main" id="{0A3FDD76-11AE-88FF-3C57-A221A1C20D56}"/>
              </a:ext>
            </a:extLst>
          </p:cNvPr>
          <p:cNvGraphicFramePr>
            <a:graphicFrameLocks noGrp="1"/>
          </p:cNvGraphicFramePr>
          <p:nvPr>
            <p:extLst>
              <p:ext uri="{D42A27DB-BD31-4B8C-83A1-F6EECF244321}">
                <p14:modId xmlns:p14="http://schemas.microsoft.com/office/powerpoint/2010/main" val="927770660"/>
              </p:ext>
            </p:extLst>
          </p:nvPr>
        </p:nvGraphicFramePr>
        <p:xfrm>
          <a:off x="7159523" y="4165872"/>
          <a:ext cx="4742424" cy="1854200"/>
        </p:xfrm>
        <a:graphic>
          <a:graphicData uri="http://schemas.openxmlformats.org/drawingml/2006/table">
            <a:tbl>
              <a:tblPr firstRow="1" bandRow="1">
                <a:tableStyleId>{5C22544A-7EE6-4342-B048-85BDC9FD1C3A}</a:tableStyleId>
              </a:tblPr>
              <a:tblGrid>
                <a:gridCol w="1580808">
                  <a:extLst>
                    <a:ext uri="{9D8B030D-6E8A-4147-A177-3AD203B41FA5}">
                      <a16:colId xmlns:a16="http://schemas.microsoft.com/office/drawing/2014/main" val="1796028226"/>
                    </a:ext>
                  </a:extLst>
                </a:gridCol>
                <a:gridCol w="1580808">
                  <a:extLst>
                    <a:ext uri="{9D8B030D-6E8A-4147-A177-3AD203B41FA5}">
                      <a16:colId xmlns:a16="http://schemas.microsoft.com/office/drawing/2014/main" val="966510708"/>
                    </a:ext>
                  </a:extLst>
                </a:gridCol>
                <a:gridCol w="1580808">
                  <a:extLst>
                    <a:ext uri="{9D8B030D-6E8A-4147-A177-3AD203B41FA5}">
                      <a16:colId xmlns:a16="http://schemas.microsoft.com/office/drawing/2014/main" val="750846999"/>
                    </a:ext>
                  </a:extLst>
                </a:gridCol>
              </a:tblGrid>
              <a:tr h="370840">
                <a:tc>
                  <a:txBody>
                    <a:bodyPr/>
                    <a:lstStyle/>
                    <a:p>
                      <a:r>
                        <a:rPr lang="en-GB" dirty="0"/>
                        <a:t>Branch</a:t>
                      </a:r>
                    </a:p>
                  </a:txBody>
                  <a:tcPr/>
                </a:tc>
                <a:tc>
                  <a:txBody>
                    <a:bodyPr/>
                    <a:lstStyle/>
                    <a:p>
                      <a:r>
                        <a:rPr lang="en-GB" dirty="0"/>
                        <a:t>Librarian</a:t>
                      </a:r>
                    </a:p>
                  </a:txBody>
                  <a:tcPr/>
                </a:tc>
                <a:tc>
                  <a:txBody>
                    <a:bodyPr/>
                    <a:lstStyle/>
                    <a:p>
                      <a:r>
                        <a:rPr lang="en-GB" dirty="0" err="1"/>
                        <a:t>Office_tell</a:t>
                      </a:r>
                      <a:endParaRPr lang="en-GB" dirty="0"/>
                    </a:p>
                  </a:txBody>
                  <a:tcPr/>
                </a:tc>
                <a:extLst>
                  <a:ext uri="{0D108BD9-81ED-4DB2-BD59-A6C34878D82A}">
                    <a16:rowId xmlns:a16="http://schemas.microsoft.com/office/drawing/2014/main" val="1478598109"/>
                  </a:ext>
                </a:extLst>
              </a:tr>
              <a:tr h="370840">
                <a:tc>
                  <a:txBody>
                    <a:bodyPr/>
                    <a:lstStyle/>
                    <a:p>
                      <a:r>
                        <a:rPr lang="en-GB" dirty="0"/>
                        <a:t>Leeds</a:t>
                      </a:r>
                    </a:p>
                  </a:txBody>
                  <a:tcPr/>
                </a:tc>
                <a:tc>
                  <a:txBody>
                    <a:bodyPr/>
                    <a:lstStyle/>
                    <a:p>
                      <a:r>
                        <a:rPr lang="en-GB" strike="sngStrike" dirty="0"/>
                        <a:t>Mr. A  </a:t>
                      </a:r>
                      <a:r>
                        <a:rPr lang="en-GB" dirty="0"/>
                        <a:t>Mr. B</a:t>
                      </a:r>
                    </a:p>
                  </a:txBody>
                  <a:tcPr/>
                </a:tc>
                <a:tc>
                  <a:txBody>
                    <a:bodyPr/>
                    <a:lstStyle/>
                    <a:p>
                      <a:r>
                        <a:rPr lang="en-GB" dirty="0"/>
                        <a:t>087545625</a:t>
                      </a:r>
                    </a:p>
                  </a:txBody>
                  <a:tcPr/>
                </a:tc>
                <a:extLst>
                  <a:ext uri="{0D108BD9-81ED-4DB2-BD59-A6C34878D82A}">
                    <a16:rowId xmlns:a16="http://schemas.microsoft.com/office/drawing/2014/main" val="344655533"/>
                  </a:ext>
                </a:extLst>
              </a:tr>
              <a:tr h="370840">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1819609539"/>
                  </a:ext>
                </a:extLst>
              </a:tr>
              <a:tr h="370840">
                <a:tc>
                  <a:txBody>
                    <a:bodyPr/>
                    <a:lstStyle/>
                    <a:p>
                      <a:endParaRPr lang="en-GB"/>
                    </a:p>
                  </a:txBody>
                  <a:tcPr/>
                </a:tc>
                <a:tc>
                  <a:txBody>
                    <a:bodyPr/>
                    <a:lstStyle/>
                    <a:p>
                      <a:endParaRPr lang="en-GB"/>
                    </a:p>
                  </a:txBody>
                  <a:tcPr/>
                </a:tc>
                <a:tc>
                  <a:txBody>
                    <a:bodyPr/>
                    <a:lstStyle/>
                    <a:p>
                      <a:endParaRPr lang="en-GB" dirty="0"/>
                    </a:p>
                  </a:txBody>
                  <a:tcPr/>
                </a:tc>
                <a:extLst>
                  <a:ext uri="{0D108BD9-81ED-4DB2-BD59-A6C34878D82A}">
                    <a16:rowId xmlns:a16="http://schemas.microsoft.com/office/drawing/2014/main" val="1227074297"/>
                  </a:ext>
                </a:extLst>
              </a:tr>
              <a:tr h="370840">
                <a:tc>
                  <a:txBody>
                    <a:bodyPr/>
                    <a:lstStyle/>
                    <a:p>
                      <a:endParaRPr lang="en-GB" dirty="0"/>
                    </a:p>
                  </a:txBody>
                  <a:tcPr/>
                </a:tc>
                <a:tc>
                  <a:txBody>
                    <a:bodyPr/>
                    <a:lstStyle/>
                    <a:p>
                      <a:endParaRPr lang="en-GB"/>
                    </a:p>
                  </a:txBody>
                  <a:tcPr/>
                </a:tc>
                <a:tc>
                  <a:txBody>
                    <a:bodyPr/>
                    <a:lstStyle/>
                    <a:p>
                      <a:endParaRPr lang="en-GB" dirty="0"/>
                    </a:p>
                  </a:txBody>
                  <a:tcPr/>
                </a:tc>
                <a:extLst>
                  <a:ext uri="{0D108BD9-81ED-4DB2-BD59-A6C34878D82A}">
                    <a16:rowId xmlns:a16="http://schemas.microsoft.com/office/drawing/2014/main" val="3279953619"/>
                  </a:ext>
                </a:extLst>
              </a:tr>
            </a:tbl>
          </a:graphicData>
        </a:graphic>
      </p:graphicFrame>
      <p:sp>
        <p:nvSpPr>
          <p:cNvPr id="10" name="TextBox 9">
            <a:extLst>
              <a:ext uri="{FF2B5EF4-FFF2-40B4-BE49-F238E27FC236}">
                <a16:creationId xmlns:a16="http://schemas.microsoft.com/office/drawing/2014/main" id="{9322EF73-902E-E40B-41DD-5A1765A7C444}"/>
              </a:ext>
            </a:extLst>
          </p:cNvPr>
          <p:cNvSpPr txBox="1"/>
          <p:nvPr/>
        </p:nvSpPr>
        <p:spPr>
          <a:xfrm>
            <a:off x="4581830" y="819907"/>
            <a:ext cx="3028335" cy="400110"/>
          </a:xfrm>
          <a:prstGeom prst="rect">
            <a:avLst/>
          </a:prstGeom>
          <a:noFill/>
        </p:spPr>
        <p:txBody>
          <a:bodyPr wrap="square">
            <a:spAutoFit/>
          </a:bodyPr>
          <a:lstStyle/>
          <a:p>
            <a:pPr lvl="0"/>
            <a:r>
              <a:rPr lang="en-GB" sz="2000" b="1" dirty="0"/>
              <a:t>BOOK REGISTER</a:t>
            </a:r>
          </a:p>
        </p:txBody>
      </p:sp>
      <p:sp>
        <p:nvSpPr>
          <p:cNvPr id="12" name="TextBox 11">
            <a:extLst>
              <a:ext uri="{FF2B5EF4-FFF2-40B4-BE49-F238E27FC236}">
                <a16:creationId xmlns:a16="http://schemas.microsoft.com/office/drawing/2014/main" id="{8D2071AD-4D33-49FC-BB06-2AB58A82A4AE}"/>
              </a:ext>
            </a:extLst>
          </p:cNvPr>
          <p:cNvSpPr txBox="1"/>
          <p:nvPr/>
        </p:nvSpPr>
        <p:spPr>
          <a:xfrm>
            <a:off x="1307691" y="6187657"/>
            <a:ext cx="3028335" cy="400110"/>
          </a:xfrm>
          <a:prstGeom prst="rect">
            <a:avLst/>
          </a:prstGeom>
          <a:noFill/>
        </p:spPr>
        <p:txBody>
          <a:bodyPr wrap="square">
            <a:spAutoFit/>
          </a:bodyPr>
          <a:lstStyle/>
          <a:p>
            <a:pPr lvl="0"/>
            <a:r>
              <a:rPr lang="en-GB" sz="2000" b="1" dirty="0"/>
              <a:t>BOOK REGISTER</a:t>
            </a:r>
          </a:p>
        </p:txBody>
      </p:sp>
      <p:sp>
        <p:nvSpPr>
          <p:cNvPr id="14" name="TextBox 13">
            <a:extLst>
              <a:ext uri="{FF2B5EF4-FFF2-40B4-BE49-F238E27FC236}">
                <a16:creationId xmlns:a16="http://schemas.microsoft.com/office/drawing/2014/main" id="{F2FAFE0E-752D-D81A-6F5B-65987E6F0AC4}"/>
              </a:ext>
            </a:extLst>
          </p:cNvPr>
          <p:cNvSpPr txBox="1"/>
          <p:nvPr/>
        </p:nvSpPr>
        <p:spPr>
          <a:xfrm>
            <a:off x="8413297" y="6187657"/>
            <a:ext cx="3028335" cy="400110"/>
          </a:xfrm>
          <a:prstGeom prst="rect">
            <a:avLst/>
          </a:prstGeom>
          <a:noFill/>
        </p:spPr>
        <p:txBody>
          <a:bodyPr wrap="square">
            <a:spAutoFit/>
          </a:bodyPr>
          <a:lstStyle/>
          <a:p>
            <a:pPr lvl="0"/>
            <a:r>
              <a:rPr lang="en-GB" sz="2000" b="1" dirty="0"/>
              <a:t>BRANCH TABLE</a:t>
            </a:r>
          </a:p>
        </p:txBody>
      </p:sp>
      <p:cxnSp>
        <p:nvCxnSpPr>
          <p:cNvPr id="17" name="Straight Arrow Connector 16">
            <a:extLst>
              <a:ext uri="{FF2B5EF4-FFF2-40B4-BE49-F238E27FC236}">
                <a16:creationId xmlns:a16="http://schemas.microsoft.com/office/drawing/2014/main" id="{69714BC8-41FD-3418-B77C-6775EEA71A04}"/>
              </a:ext>
            </a:extLst>
          </p:cNvPr>
          <p:cNvCxnSpPr/>
          <p:nvPr/>
        </p:nvCxnSpPr>
        <p:spPr>
          <a:xfrm flipH="1">
            <a:off x="3254477" y="3234813"/>
            <a:ext cx="1584000" cy="900000"/>
          </a:xfrm>
          <a:prstGeom prst="straightConnector1">
            <a:avLst/>
          </a:prstGeom>
          <a:ln w="57150">
            <a:headEnd type="none" w="med" len="med"/>
            <a:tailEnd type="arrow" w="med" len="med"/>
          </a:ln>
        </p:spPr>
        <p:style>
          <a:lnRef idx="3">
            <a:schemeClr val="accent1"/>
          </a:lnRef>
          <a:fillRef idx="0">
            <a:schemeClr val="accent1"/>
          </a:fillRef>
          <a:effectRef idx="2">
            <a:schemeClr val="accent1"/>
          </a:effectRef>
          <a:fontRef idx="minor">
            <a:schemeClr val="tx1"/>
          </a:fontRef>
        </p:style>
      </p:cxnSp>
      <p:cxnSp>
        <p:nvCxnSpPr>
          <p:cNvPr id="18" name="Straight Arrow Connector 17">
            <a:extLst>
              <a:ext uri="{FF2B5EF4-FFF2-40B4-BE49-F238E27FC236}">
                <a16:creationId xmlns:a16="http://schemas.microsoft.com/office/drawing/2014/main" id="{D28A6175-4E7D-2938-7925-CA3FF68F48E2}"/>
              </a:ext>
            </a:extLst>
          </p:cNvPr>
          <p:cNvCxnSpPr>
            <a:cxnSpLocks/>
          </p:cNvCxnSpPr>
          <p:nvPr/>
        </p:nvCxnSpPr>
        <p:spPr>
          <a:xfrm>
            <a:off x="8145525" y="3234813"/>
            <a:ext cx="1293443" cy="900000"/>
          </a:xfrm>
          <a:prstGeom prst="straightConnector1">
            <a:avLst/>
          </a:prstGeom>
          <a:ln w="57150">
            <a:headEnd type="none" w="med" len="med"/>
            <a:tailEnd type="arrow" w="med" len="med"/>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627929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1" name="Rectangle 10">
            <a:extLst>
              <a:ext uri="{FF2B5EF4-FFF2-40B4-BE49-F238E27FC236}">
                <a16:creationId xmlns:a16="http://schemas.microsoft.com/office/drawing/2014/main" id="{03F945E9-8068-7043-B2B2-ACB10FCF79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8E2A32-CACC-7114-6298-40FCD7D4323D}"/>
              </a:ext>
            </a:extLst>
          </p:cNvPr>
          <p:cNvSpPr>
            <a:spLocks noGrp="1"/>
          </p:cNvSpPr>
          <p:nvPr>
            <p:ph type="title"/>
          </p:nvPr>
        </p:nvSpPr>
        <p:spPr>
          <a:xfrm>
            <a:off x="717983" y="1390650"/>
            <a:ext cx="6541799" cy="4076700"/>
          </a:xfrm>
        </p:spPr>
        <p:txBody>
          <a:bodyPr vert="horz" lIns="91440" tIns="45720" rIns="91440" bIns="45720" rtlCol="0" anchor="ctr">
            <a:normAutofit/>
          </a:bodyPr>
          <a:lstStyle/>
          <a:p>
            <a:r>
              <a:rPr lang="en-US" sz="6600"/>
              <a:t>Relationships in power bi</a:t>
            </a:r>
          </a:p>
        </p:txBody>
      </p:sp>
      <p:cxnSp>
        <p:nvCxnSpPr>
          <p:cNvPr id="13" name="Straight Connector 12">
            <a:extLst>
              <a:ext uri="{FF2B5EF4-FFF2-40B4-BE49-F238E27FC236}">
                <a16:creationId xmlns:a16="http://schemas.microsoft.com/office/drawing/2014/main" id="{D40C7B8C-D44C-85BF-4166-E0609E10E9E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6200000">
            <a:off x="7296150" y="34290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06982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2EABA-7CFF-B7CF-4B0C-7CA2BC782B7B}"/>
              </a:ext>
            </a:extLst>
          </p:cNvPr>
          <p:cNvSpPr>
            <a:spLocks noGrp="1"/>
          </p:cNvSpPr>
          <p:nvPr>
            <p:ph type="title"/>
          </p:nvPr>
        </p:nvSpPr>
        <p:spPr>
          <a:xfrm>
            <a:off x="700635" y="142486"/>
            <a:ext cx="10691265" cy="651334"/>
          </a:xfrm>
        </p:spPr>
        <p:txBody>
          <a:bodyPr>
            <a:normAutofit fontScale="90000"/>
          </a:bodyPr>
          <a:lstStyle/>
          <a:p>
            <a:r>
              <a:rPr lang="en-GB" dirty="0"/>
              <a:t>Types of relationship</a:t>
            </a:r>
          </a:p>
        </p:txBody>
      </p:sp>
      <p:sp>
        <p:nvSpPr>
          <p:cNvPr id="3" name="Content Placeholder 2">
            <a:extLst>
              <a:ext uri="{FF2B5EF4-FFF2-40B4-BE49-F238E27FC236}">
                <a16:creationId xmlns:a16="http://schemas.microsoft.com/office/drawing/2014/main" id="{312F98B9-4A25-4E5F-AD32-6A089EE7F312}"/>
              </a:ext>
            </a:extLst>
          </p:cNvPr>
          <p:cNvSpPr>
            <a:spLocks noGrp="1"/>
          </p:cNvSpPr>
          <p:nvPr>
            <p:ph idx="1"/>
          </p:nvPr>
        </p:nvSpPr>
        <p:spPr>
          <a:xfrm>
            <a:off x="375138" y="991164"/>
            <a:ext cx="5574938" cy="4460174"/>
          </a:xfrm>
        </p:spPr>
        <p:txBody>
          <a:bodyPr>
            <a:normAutofit/>
          </a:bodyPr>
          <a:lstStyle/>
          <a:p>
            <a:r>
              <a:rPr lang="en-GB" dirty="0"/>
              <a:t>One to Many</a:t>
            </a:r>
          </a:p>
          <a:p>
            <a:r>
              <a:rPr lang="en-GB" dirty="0"/>
              <a:t>One to One</a:t>
            </a:r>
          </a:p>
          <a:p>
            <a:r>
              <a:rPr lang="en-GB" dirty="0"/>
              <a:t>Many to Many (Try as much as possible to avoid) </a:t>
            </a:r>
          </a:p>
          <a:p>
            <a:endParaRPr lang="en-GB" dirty="0"/>
          </a:p>
          <a:p>
            <a:pPr marL="0" indent="0">
              <a:buNone/>
            </a:pPr>
            <a:r>
              <a:rPr lang="en-GB" dirty="0"/>
              <a:t>Direction of relationships</a:t>
            </a:r>
          </a:p>
          <a:p>
            <a:r>
              <a:rPr lang="en-GB" dirty="0"/>
              <a:t>Single (ensure to check for the correct direction)</a:t>
            </a:r>
          </a:p>
          <a:p>
            <a:r>
              <a:rPr lang="en-GB" dirty="0"/>
              <a:t>Both</a:t>
            </a:r>
          </a:p>
        </p:txBody>
      </p:sp>
      <p:sp>
        <p:nvSpPr>
          <p:cNvPr id="4" name="TextBox 3">
            <a:extLst>
              <a:ext uri="{FF2B5EF4-FFF2-40B4-BE49-F238E27FC236}">
                <a16:creationId xmlns:a16="http://schemas.microsoft.com/office/drawing/2014/main" id="{CA466D2A-2700-2F9B-2EA8-5AF459C6B3DC}"/>
              </a:ext>
            </a:extLst>
          </p:cNvPr>
          <p:cNvSpPr txBox="1"/>
          <p:nvPr/>
        </p:nvSpPr>
        <p:spPr>
          <a:xfrm>
            <a:off x="73825" y="5524392"/>
            <a:ext cx="120443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FF0000"/>
                </a:solidFill>
                <a:effectLst/>
                <a:uLnTx/>
                <a:uFillTx/>
                <a:latin typeface="Arial" panose="020B0604020202020204"/>
                <a:ea typeface="+mn-ea"/>
                <a:cs typeface="+mn-cs"/>
              </a:rPr>
              <a:t>Power BI will do this for you; make sure you check them and change them if necessary</a:t>
            </a:r>
          </a:p>
        </p:txBody>
      </p:sp>
      <p:pic>
        <p:nvPicPr>
          <p:cNvPr id="5" name="Content Placeholder 4">
            <a:extLst>
              <a:ext uri="{FF2B5EF4-FFF2-40B4-BE49-F238E27FC236}">
                <a16:creationId xmlns:a16="http://schemas.microsoft.com/office/drawing/2014/main" id="{24D0550D-DF0F-F846-0507-8FFF4589DBF4}"/>
              </a:ext>
            </a:extLst>
          </p:cNvPr>
          <p:cNvPicPr>
            <a:picLocks noChangeAspect="1"/>
          </p:cNvPicPr>
          <p:nvPr/>
        </p:nvPicPr>
        <p:blipFill>
          <a:blip r:embed="rId2">
            <a:extLst>
              <a:ext uri="{28A0092B-C50C-407E-A947-70E740481C1C}">
                <a14:useLocalDpi xmlns:a14="http://schemas.microsoft.com/office/drawing/2010/main" val="0"/>
              </a:ext>
            </a:extLst>
          </a:blip>
          <a:srcRect l="14224" t="7595" r="11214" b="11926"/>
          <a:stretch>
            <a:fillRect/>
          </a:stretch>
        </p:blipFill>
        <p:spPr>
          <a:xfrm>
            <a:off x="6095999" y="918108"/>
            <a:ext cx="5720863" cy="4494965"/>
          </a:xfrm>
          <a:prstGeom prst="rect">
            <a:avLst/>
          </a:prstGeom>
        </p:spPr>
      </p:pic>
      <p:sp>
        <p:nvSpPr>
          <p:cNvPr id="6" name="Content Placeholder 2">
            <a:extLst>
              <a:ext uri="{FF2B5EF4-FFF2-40B4-BE49-F238E27FC236}">
                <a16:creationId xmlns:a16="http://schemas.microsoft.com/office/drawing/2014/main" id="{D2A0F5D9-E7E9-EE52-9714-EB8DA36282A6}"/>
              </a:ext>
            </a:extLst>
          </p:cNvPr>
          <p:cNvSpPr txBox="1">
            <a:spLocks/>
          </p:cNvSpPr>
          <p:nvPr/>
        </p:nvSpPr>
        <p:spPr>
          <a:xfrm>
            <a:off x="357246" y="6132166"/>
            <a:ext cx="11477506" cy="46166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sz="2400" dirty="0">
                <a:hlinkClick r:id="rId3"/>
              </a:rPr>
              <a:t>https://www.youtube.com/watch?v=NvrpuBAMddw</a:t>
            </a:r>
            <a:r>
              <a:rPr lang="en-GB" sz="2400" dirty="0"/>
              <a:t> </a:t>
            </a:r>
          </a:p>
        </p:txBody>
      </p:sp>
    </p:spTree>
    <p:extLst>
      <p:ext uri="{BB962C8B-B14F-4D97-AF65-F5344CB8AC3E}">
        <p14:creationId xmlns:p14="http://schemas.microsoft.com/office/powerpoint/2010/main" val="149606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240D3B-7A20-5698-E208-E289E9A2967B}"/>
              </a:ext>
            </a:extLst>
          </p:cNvPr>
          <p:cNvSpPr>
            <a:spLocks noGrp="1"/>
          </p:cNvSpPr>
          <p:nvPr>
            <p:ph type="title"/>
          </p:nvPr>
        </p:nvSpPr>
        <p:spPr>
          <a:xfrm>
            <a:off x="3113405" y="5920374"/>
            <a:ext cx="5965190" cy="746854"/>
          </a:xfrm>
        </p:spPr>
        <p:txBody>
          <a:bodyPr vert="horz" lIns="91440" tIns="45720" rIns="91440" bIns="45720" rtlCol="0" anchor="t">
            <a:noAutofit/>
          </a:bodyPr>
          <a:lstStyle/>
          <a:p>
            <a:pPr algn="ctr"/>
            <a:r>
              <a:rPr lang="en-US" sz="5400" b="1" dirty="0"/>
              <a:t>THANK YOU</a:t>
            </a:r>
          </a:p>
        </p:txBody>
      </p:sp>
      <p:pic>
        <p:nvPicPr>
          <p:cNvPr id="6" name="Graphic 5" descr="Smiling Face with No Fill">
            <a:extLst>
              <a:ext uri="{FF2B5EF4-FFF2-40B4-BE49-F238E27FC236}">
                <a16:creationId xmlns:a16="http://schemas.microsoft.com/office/drawing/2014/main" id="{7F594F61-4BE0-15F3-3A0D-8903D7B2164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497763" y="406400"/>
            <a:ext cx="5196474" cy="5196474"/>
          </a:xfrm>
          <a:prstGeom prst="rect">
            <a:avLst/>
          </a:prstGeom>
        </p:spPr>
      </p:pic>
      <p:cxnSp>
        <p:nvCxnSpPr>
          <p:cNvPr id="15" name="Straight Connector 14">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69770" y="5719083"/>
            <a:ext cx="82296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5171460"/>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440</TotalTime>
  <Words>1009</Words>
  <Application>Microsoft Office PowerPoint</Application>
  <PresentationFormat>Widescreen</PresentationFormat>
  <Paragraphs>154</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Calisto MT</vt:lpstr>
      <vt:lpstr>Univers Condensed</vt:lpstr>
      <vt:lpstr>ChronicleVTI</vt:lpstr>
      <vt:lpstr>Data Model and Relationships</vt:lpstr>
      <vt:lpstr>Outline</vt:lpstr>
      <vt:lpstr>Data Model</vt:lpstr>
      <vt:lpstr>components of DATA MODEL</vt:lpstr>
      <vt:lpstr>Fact and dimension tables</vt:lpstr>
      <vt:lpstr>DOWNSIDE OF USING A FLAT TABLE</vt:lpstr>
      <vt:lpstr>Example 1</vt:lpstr>
      <vt:lpstr>Example 2</vt:lpstr>
      <vt:lpstr>Example 3</vt:lpstr>
      <vt:lpstr>Example 4: STAR SCHEMA</vt:lpstr>
      <vt:lpstr>Example 4: Snowflake SCHEMA</vt:lpstr>
      <vt:lpstr>normalisation</vt:lpstr>
      <vt:lpstr>NORMAL FORMS</vt:lpstr>
      <vt:lpstr>Why normalisation?</vt:lpstr>
      <vt:lpstr>Example</vt:lpstr>
      <vt:lpstr>Solve with Normalisation</vt:lpstr>
      <vt:lpstr>Relationships in power bi</vt:lpstr>
      <vt:lpstr>Types of relationship</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Jesubukade Ajakaye</dc:creator>
  <cp:lastModifiedBy>Jesubukade Ajakaye</cp:lastModifiedBy>
  <cp:revision>1</cp:revision>
  <dcterms:created xsi:type="dcterms:W3CDTF">2026-09-02T09:07:22Z</dcterms:created>
  <dcterms:modified xsi:type="dcterms:W3CDTF">2026-09-02T16:27:59Z</dcterms:modified>
</cp:coreProperties>
</file>